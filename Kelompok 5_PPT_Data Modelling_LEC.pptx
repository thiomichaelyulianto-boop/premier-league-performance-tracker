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nton" charset="1" panose="00000500000000000000"/>
      <p:regular r:id="rId19"/>
    </p:embeddedFont>
    <p:embeddedFont>
      <p:font typeface="Poppins" charset="1" panose="00000500000000000000"/>
      <p:regular r:id="rId20"/>
    </p:embeddedFont>
    <p:embeddedFont>
      <p:font typeface="Poppins Semi-Bold" charset="1" panose="00000700000000000000"/>
      <p:regular r:id="rId21"/>
    </p:embeddedFont>
    <p:embeddedFont>
      <p:font typeface="Poppins Bold" charset="1" panose="00000800000000000000"/>
      <p:regular r:id="rId22"/>
    </p:embeddedFont>
    <p:embeddedFont>
      <p:font typeface="Poppins Medium" charset="1" panose="00000600000000000000"/>
      <p:regular r:id="rId23"/>
    </p:embeddedFont>
    <p:embeddedFont>
      <p:font typeface="Poppins Bold Italics"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11.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6.pn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svg" Type="http://schemas.openxmlformats.org/officeDocument/2006/relationships/image"/><Relationship Id="rId11" Target="../media/image18.pn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7.pn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9.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3.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4290094">
            <a:off x="9722324" y="-501225"/>
            <a:ext cx="10253827" cy="5457196"/>
            <a:chOff x="0" y="0"/>
            <a:chExt cx="1854593" cy="987034"/>
          </a:xfrm>
        </p:grpSpPr>
        <p:sp>
          <p:nvSpPr>
            <p:cNvPr name="Freeform 3" id="3"/>
            <p:cNvSpPr/>
            <p:nvPr/>
          </p:nvSpPr>
          <p:spPr>
            <a:xfrm flipH="false" flipV="false" rot="0">
              <a:off x="0" y="0"/>
              <a:ext cx="1854593" cy="987034"/>
            </a:xfrm>
            <a:custGeom>
              <a:avLst/>
              <a:gdLst/>
              <a:ahLst/>
              <a:cxnLst/>
              <a:rect r="r" b="b" t="t" l="l"/>
              <a:pathLst>
                <a:path h="987034" w="1854593">
                  <a:moveTo>
                    <a:pt x="1651393" y="0"/>
                  </a:moveTo>
                  <a:lnTo>
                    <a:pt x="0" y="0"/>
                  </a:lnTo>
                  <a:lnTo>
                    <a:pt x="203200" y="987034"/>
                  </a:lnTo>
                  <a:lnTo>
                    <a:pt x="1854593" y="987034"/>
                  </a:lnTo>
                  <a:lnTo>
                    <a:pt x="1651393" y="0"/>
                  </a:lnTo>
                  <a:close/>
                </a:path>
              </a:pathLst>
            </a:custGeom>
            <a:solidFill>
              <a:srgbClr val="EFBD27"/>
            </a:solidFill>
          </p:spPr>
        </p:sp>
        <p:sp>
          <p:nvSpPr>
            <p:cNvPr name="TextBox 4" id="4"/>
            <p:cNvSpPr txBox="true"/>
            <p:nvPr/>
          </p:nvSpPr>
          <p:spPr>
            <a:xfrm>
              <a:off x="101600" y="-38100"/>
              <a:ext cx="1651393" cy="102513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433696" y="790575"/>
            <a:ext cx="8950957" cy="2066925"/>
          </a:xfrm>
          <a:prstGeom prst="rect">
            <a:avLst/>
          </a:prstGeom>
        </p:spPr>
        <p:txBody>
          <a:bodyPr anchor="t" rtlCol="false" tIns="0" lIns="0" bIns="0" rIns="0">
            <a:spAutoFit/>
          </a:bodyPr>
          <a:lstStyle/>
          <a:p>
            <a:pPr algn="l">
              <a:lnSpc>
                <a:spcPts val="16800"/>
              </a:lnSpc>
            </a:pPr>
            <a:r>
              <a:rPr lang="en-US" sz="12000">
                <a:solidFill>
                  <a:srgbClr val="FFFFFF"/>
                </a:solidFill>
                <a:latin typeface="Anton"/>
                <a:ea typeface="Anton"/>
                <a:cs typeface="Anton"/>
                <a:sym typeface="Anton"/>
              </a:rPr>
              <a:t>PERFORMANCE</a:t>
            </a:r>
          </a:p>
        </p:txBody>
      </p:sp>
      <p:sp>
        <p:nvSpPr>
          <p:cNvPr name="TextBox 6" id="6"/>
          <p:cNvSpPr txBox="true"/>
          <p:nvPr/>
        </p:nvSpPr>
        <p:spPr>
          <a:xfrm rot="0">
            <a:off x="1433696" y="2419350"/>
            <a:ext cx="8950957" cy="2066925"/>
          </a:xfrm>
          <a:prstGeom prst="rect">
            <a:avLst/>
          </a:prstGeom>
        </p:spPr>
        <p:txBody>
          <a:bodyPr anchor="t" rtlCol="false" tIns="0" lIns="0" bIns="0" rIns="0">
            <a:spAutoFit/>
          </a:bodyPr>
          <a:lstStyle/>
          <a:p>
            <a:pPr algn="l">
              <a:lnSpc>
                <a:spcPts val="16800"/>
              </a:lnSpc>
            </a:pPr>
            <a:r>
              <a:rPr lang="en-US" sz="12000">
                <a:solidFill>
                  <a:srgbClr val="EFBD27"/>
                </a:solidFill>
                <a:latin typeface="Anton"/>
                <a:ea typeface="Anton"/>
                <a:cs typeface="Anton"/>
                <a:sym typeface="Anton"/>
              </a:rPr>
              <a:t>TRACKER</a:t>
            </a:r>
          </a:p>
        </p:txBody>
      </p:sp>
      <p:grpSp>
        <p:nvGrpSpPr>
          <p:cNvPr name="Group 7" id="7"/>
          <p:cNvGrpSpPr/>
          <p:nvPr/>
        </p:nvGrpSpPr>
        <p:grpSpPr>
          <a:xfrm rot="0">
            <a:off x="8806162" y="2079833"/>
            <a:ext cx="8548388" cy="6411291"/>
            <a:chOff x="0" y="0"/>
            <a:chExt cx="812800" cy="609600"/>
          </a:xfrm>
        </p:grpSpPr>
        <p:sp>
          <p:nvSpPr>
            <p:cNvPr name="Freeform 8" id="8"/>
            <p:cNvSpPr/>
            <p:nvPr/>
          </p:nvSpPr>
          <p:spPr>
            <a:xfrm flipH="false" flipV="false" rot="0">
              <a:off x="0" y="0"/>
              <a:ext cx="812800" cy="609600"/>
            </a:xfrm>
            <a:custGeom>
              <a:avLst/>
              <a:gdLst/>
              <a:ahLst/>
              <a:cxnLst/>
              <a:rect r="r" b="b" t="t" l="l"/>
              <a:pathLst>
                <a:path h="609600" w="812800">
                  <a:moveTo>
                    <a:pt x="203200" y="0"/>
                  </a:moveTo>
                  <a:lnTo>
                    <a:pt x="812800" y="0"/>
                  </a:lnTo>
                  <a:lnTo>
                    <a:pt x="609600" y="609600"/>
                  </a:lnTo>
                  <a:lnTo>
                    <a:pt x="0" y="609600"/>
                  </a:lnTo>
                  <a:lnTo>
                    <a:pt x="203200" y="0"/>
                  </a:lnTo>
                  <a:close/>
                </a:path>
              </a:pathLst>
            </a:custGeom>
            <a:blipFill>
              <a:blip r:embed="rId2"/>
              <a:stretch>
                <a:fillRect l="0" t="-16666" r="0" b="-16666"/>
              </a:stretch>
            </a:blipFill>
          </p:spPr>
        </p:sp>
      </p:grpSp>
      <p:grpSp>
        <p:nvGrpSpPr>
          <p:cNvPr name="Group 9" id="9"/>
          <p:cNvGrpSpPr/>
          <p:nvPr/>
        </p:nvGrpSpPr>
        <p:grpSpPr>
          <a:xfrm rot="-4290094">
            <a:off x="10658294" y="7467254"/>
            <a:ext cx="3911271" cy="4864687"/>
            <a:chOff x="0" y="0"/>
            <a:chExt cx="490126" cy="609600"/>
          </a:xfrm>
        </p:grpSpPr>
        <p:sp>
          <p:nvSpPr>
            <p:cNvPr name="Freeform 10" id="10"/>
            <p:cNvSpPr/>
            <p:nvPr/>
          </p:nvSpPr>
          <p:spPr>
            <a:xfrm flipH="false" flipV="false" rot="0">
              <a:off x="0" y="0"/>
              <a:ext cx="490126" cy="609600"/>
            </a:xfrm>
            <a:custGeom>
              <a:avLst/>
              <a:gdLst/>
              <a:ahLst/>
              <a:cxnLst/>
              <a:rect r="r" b="b" t="t" l="l"/>
              <a:pathLst>
                <a:path h="609600" w="490126">
                  <a:moveTo>
                    <a:pt x="286926" y="0"/>
                  </a:moveTo>
                  <a:lnTo>
                    <a:pt x="0" y="0"/>
                  </a:lnTo>
                  <a:lnTo>
                    <a:pt x="203200" y="609600"/>
                  </a:lnTo>
                  <a:lnTo>
                    <a:pt x="490126" y="609600"/>
                  </a:lnTo>
                  <a:lnTo>
                    <a:pt x="286926" y="0"/>
                  </a:lnTo>
                  <a:close/>
                </a:path>
              </a:pathLst>
            </a:custGeom>
            <a:solidFill>
              <a:srgbClr val="EFBD27"/>
            </a:solidFill>
          </p:spPr>
        </p:sp>
        <p:sp>
          <p:nvSpPr>
            <p:cNvPr name="TextBox 11" id="11"/>
            <p:cNvSpPr txBox="true"/>
            <p:nvPr/>
          </p:nvSpPr>
          <p:spPr>
            <a:xfrm>
              <a:off x="101600" y="-38100"/>
              <a:ext cx="286926" cy="6477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5400000">
            <a:off x="16288604" y="8436025"/>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7532407" y="740628"/>
            <a:ext cx="1611593" cy="288072"/>
          </a:xfrm>
          <a:custGeom>
            <a:avLst/>
            <a:gdLst/>
            <a:ahLst/>
            <a:cxnLst/>
            <a:rect r="r" b="b" t="t" l="l"/>
            <a:pathLst>
              <a:path h="288072" w="1611593">
                <a:moveTo>
                  <a:pt x="0" y="0"/>
                </a:moveTo>
                <a:lnTo>
                  <a:pt x="1611593" y="0"/>
                </a:lnTo>
                <a:lnTo>
                  <a:pt x="1611593" y="288072"/>
                </a:lnTo>
                <a:lnTo>
                  <a:pt x="0" y="2880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1028700" y="5784457"/>
            <a:ext cx="7309503" cy="3089644"/>
            <a:chOff x="0" y="0"/>
            <a:chExt cx="1925137" cy="813734"/>
          </a:xfrm>
        </p:grpSpPr>
        <p:sp>
          <p:nvSpPr>
            <p:cNvPr name="Freeform 15" id="15"/>
            <p:cNvSpPr/>
            <p:nvPr/>
          </p:nvSpPr>
          <p:spPr>
            <a:xfrm flipH="false" flipV="false" rot="0">
              <a:off x="0" y="0"/>
              <a:ext cx="1925137" cy="813733"/>
            </a:xfrm>
            <a:custGeom>
              <a:avLst/>
              <a:gdLst/>
              <a:ahLst/>
              <a:cxnLst/>
              <a:rect r="r" b="b" t="t" l="l"/>
              <a:pathLst>
                <a:path h="813733" w="1925137">
                  <a:moveTo>
                    <a:pt x="31775" y="0"/>
                  </a:moveTo>
                  <a:lnTo>
                    <a:pt x="1893362" y="0"/>
                  </a:lnTo>
                  <a:cubicBezTo>
                    <a:pt x="1901789" y="0"/>
                    <a:pt x="1909871" y="3348"/>
                    <a:pt x="1915830" y="9307"/>
                  </a:cubicBezTo>
                  <a:cubicBezTo>
                    <a:pt x="1921789" y="15266"/>
                    <a:pt x="1925137" y="23348"/>
                    <a:pt x="1925137" y="31775"/>
                  </a:cubicBezTo>
                  <a:lnTo>
                    <a:pt x="1925137" y="781959"/>
                  </a:lnTo>
                  <a:cubicBezTo>
                    <a:pt x="1925137" y="790386"/>
                    <a:pt x="1921789" y="798468"/>
                    <a:pt x="1915830" y="804427"/>
                  </a:cubicBezTo>
                  <a:cubicBezTo>
                    <a:pt x="1909871" y="810386"/>
                    <a:pt x="1901789" y="813733"/>
                    <a:pt x="1893362" y="813733"/>
                  </a:cubicBezTo>
                  <a:lnTo>
                    <a:pt x="31775" y="813733"/>
                  </a:lnTo>
                  <a:cubicBezTo>
                    <a:pt x="23348" y="813733"/>
                    <a:pt x="15266" y="810386"/>
                    <a:pt x="9307" y="804427"/>
                  </a:cubicBezTo>
                  <a:cubicBezTo>
                    <a:pt x="3348" y="798468"/>
                    <a:pt x="0" y="790386"/>
                    <a:pt x="0" y="781959"/>
                  </a:cubicBezTo>
                  <a:lnTo>
                    <a:pt x="0" y="31775"/>
                  </a:lnTo>
                  <a:cubicBezTo>
                    <a:pt x="0" y="23348"/>
                    <a:pt x="3348" y="15266"/>
                    <a:pt x="9307" y="9307"/>
                  </a:cubicBezTo>
                  <a:cubicBezTo>
                    <a:pt x="15266" y="3348"/>
                    <a:pt x="23348" y="0"/>
                    <a:pt x="31775" y="0"/>
                  </a:cubicBezTo>
                  <a:close/>
                </a:path>
              </a:pathLst>
            </a:custGeom>
            <a:solidFill>
              <a:srgbClr val="FFFFFF"/>
            </a:solidFill>
          </p:spPr>
        </p:sp>
        <p:sp>
          <p:nvSpPr>
            <p:cNvPr name="TextBox 16" id="16"/>
            <p:cNvSpPr txBox="true"/>
            <p:nvPr/>
          </p:nvSpPr>
          <p:spPr>
            <a:xfrm>
              <a:off x="0" y="-38100"/>
              <a:ext cx="1925137" cy="85183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433696" y="4600575"/>
            <a:ext cx="7710304" cy="757575"/>
          </a:xfrm>
          <a:prstGeom prst="rect">
            <a:avLst/>
          </a:prstGeom>
        </p:spPr>
        <p:txBody>
          <a:bodyPr anchor="t" rtlCol="false" tIns="0" lIns="0" bIns="0" rIns="0">
            <a:spAutoFit/>
          </a:bodyPr>
          <a:lstStyle/>
          <a:p>
            <a:pPr algn="l">
              <a:lnSpc>
                <a:spcPts val="2867"/>
              </a:lnSpc>
            </a:pPr>
            <a:r>
              <a:rPr lang="en-US" sz="3186">
                <a:solidFill>
                  <a:srgbClr val="FFFFFF"/>
                </a:solidFill>
                <a:latin typeface="Poppins"/>
                <a:ea typeface="Poppins"/>
                <a:cs typeface="Poppins"/>
                <a:sym typeface="Poppins"/>
              </a:rPr>
              <a:t>Analisis Data &amp; Business Insight: Premier League 2024/2025</a:t>
            </a:r>
          </a:p>
        </p:txBody>
      </p:sp>
      <p:sp>
        <p:nvSpPr>
          <p:cNvPr name="TextBox 18" id="18"/>
          <p:cNvSpPr txBox="true"/>
          <p:nvPr/>
        </p:nvSpPr>
        <p:spPr>
          <a:xfrm rot="0">
            <a:off x="1231198" y="6159442"/>
            <a:ext cx="6904507" cy="2265764"/>
          </a:xfrm>
          <a:prstGeom prst="rect">
            <a:avLst/>
          </a:prstGeom>
        </p:spPr>
        <p:txBody>
          <a:bodyPr anchor="t" rtlCol="false" tIns="0" lIns="0" bIns="0" rIns="0">
            <a:spAutoFit/>
          </a:bodyPr>
          <a:lstStyle/>
          <a:p>
            <a:pPr algn="l">
              <a:lnSpc>
                <a:spcPts val="2213"/>
              </a:lnSpc>
            </a:pPr>
            <a:r>
              <a:rPr lang="en-US" sz="2459" b="true">
                <a:solidFill>
                  <a:srgbClr val="003A46"/>
                </a:solidFill>
                <a:latin typeface="Poppins Semi-Bold"/>
                <a:ea typeface="Poppins Semi-Bold"/>
                <a:cs typeface="Poppins Semi-Bold"/>
                <a:sym typeface="Poppins Semi-Bold"/>
              </a:rPr>
              <a:t>Kelompok 5 — Data Modelling / LC11</a:t>
            </a:r>
          </a:p>
          <a:p>
            <a:pPr algn="l">
              <a:lnSpc>
                <a:spcPts val="2213"/>
              </a:lnSpc>
            </a:pPr>
          </a:p>
          <a:p>
            <a:pPr algn="l">
              <a:lnSpc>
                <a:spcPts val="2213"/>
              </a:lnSpc>
            </a:pPr>
            <a:r>
              <a:rPr lang="en-US" sz="2459" spc="98" b="true">
                <a:solidFill>
                  <a:srgbClr val="003A46"/>
                </a:solidFill>
                <a:latin typeface="Poppins Semi-Bold"/>
                <a:ea typeface="Poppins Semi-Bold"/>
                <a:cs typeface="Poppins Semi-Bold"/>
                <a:sym typeface="Poppins Semi-Bold"/>
              </a:rPr>
              <a:t>Thio Michael Yulianto - 2802550781 </a:t>
            </a:r>
          </a:p>
          <a:p>
            <a:pPr algn="l">
              <a:lnSpc>
                <a:spcPts val="2213"/>
              </a:lnSpc>
            </a:pPr>
            <a:r>
              <a:rPr lang="en-US" sz="2459" spc="98" b="true">
                <a:solidFill>
                  <a:srgbClr val="003A46"/>
                </a:solidFill>
                <a:latin typeface="Poppins Semi-Bold"/>
                <a:ea typeface="Poppins Semi-Bold"/>
                <a:cs typeface="Poppins Semi-Bold"/>
                <a:sym typeface="Poppins Semi-Bold"/>
              </a:rPr>
              <a:t>Nacito Florisen Astari - 2802539513 </a:t>
            </a:r>
          </a:p>
          <a:p>
            <a:pPr algn="l">
              <a:lnSpc>
                <a:spcPts val="2213"/>
              </a:lnSpc>
            </a:pPr>
            <a:r>
              <a:rPr lang="en-US" sz="2459" spc="98" b="true">
                <a:solidFill>
                  <a:srgbClr val="003A46"/>
                </a:solidFill>
                <a:latin typeface="Poppins Semi-Bold"/>
                <a:ea typeface="Poppins Semi-Bold"/>
                <a:cs typeface="Poppins Semi-Bold"/>
                <a:sym typeface="Poppins Semi-Bold"/>
              </a:rPr>
              <a:t>Aditya Naufal Erlangga - 2802549174 </a:t>
            </a:r>
          </a:p>
          <a:p>
            <a:pPr algn="l">
              <a:lnSpc>
                <a:spcPts val="2213"/>
              </a:lnSpc>
            </a:pPr>
            <a:r>
              <a:rPr lang="en-US" sz="2459" spc="98" b="true">
                <a:solidFill>
                  <a:srgbClr val="003A46"/>
                </a:solidFill>
                <a:latin typeface="Poppins Semi-Bold"/>
                <a:ea typeface="Poppins Semi-Bold"/>
                <a:cs typeface="Poppins Semi-Bold"/>
                <a:sym typeface="Poppins Semi-Bold"/>
              </a:rPr>
              <a:t>Aditya Maulana - 2802545983 </a:t>
            </a:r>
          </a:p>
          <a:p>
            <a:pPr algn="l">
              <a:lnSpc>
                <a:spcPts val="2213"/>
              </a:lnSpc>
            </a:pPr>
            <a:r>
              <a:rPr lang="en-US" sz="2459" spc="98" b="true">
                <a:solidFill>
                  <a:srgbClr val="003A46"/>
                </a:solidFill>
                <a:latin typeface="Poppins Semi-Bold"/>
                <a:ea typeface="Poppins Semi-Bold"/>
                <a:cs typeface="Poppins Semi-Bold"/>
                <a:sym typeface="Poppins Semi-Bold"/>
              </a:rPr>
              <a:t>Mohamad Arya Fadlullah - 2802550623 </a:t>
            </a:r>
          </a:p>
          <a:p>
            <a:pPr algn="l">
              <a:lnSpc>
                <a:spcPts val="2213"/>
              </a:lnSpc>
            </a:pPr>
            <a:r>
              <a:rPr lang="en-US" sz="2459" spc="98" b="true">
                <a:solidFill>
                  <a:srgbClr val="003A46"/>
                </a:solidFill>
                <a:latin typeface="Poppins Semi-Bold"/>
                <a:ea typeface="Poppins Semi-Bold"/>
                <a:cs typeface="Poppins Semi-Bold"/>
                <a:sym typeface="Poppins Semi-Bold"/>
              </a:rPr>
              <a:t>Gideon Manggaprouw - 2802559704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35805">
            <a:off x="2227001" y="653105"/>
            <a:ext cx="9433976" cy="4648377"/>
          </a:xfrm>
          <a:custGeom>
            <a:avLst/>
            <a:gdLst/>
            <a:ahLst/>
            <a:cxnLst/>
            <a:rect r="r" b="b" t="t" l="l"/>
            <a:pathLst>
              <a:path h="4648377" w="9433976">
                <a:moveTo>
                  <a:pt x="9433976" y="0"/>
                </a:moveTo>
                <a:lnTo>
                  <a:pt x="0" y="0"/>
                </a:lnTo>
                <a:lnTo>
                  <a:pt x="0" y="4648378"/>
                </a:lnTo>
                <a:lnTo>
                  <a:pt x="9433976" y="4648378"/>
                </a:lnTo>
                <a:lnTo>
                  <a:pt x="9433976" y="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454647" y="1890010"/>
            <a:ext cx="2415114" cy="1371754"/>
            <a:chOff x="0" y="0"/>
            <a:chExt cx="1050498" cy="596670"/>
          </a:xfrm>
        </p:grpSpPr>
        <p:sp>
          <p:nvSpPr>
            <p:cNvPr name="Freeform 5" id="5"/>
            <p:cNvSpPr/>
            <p:nvPr/>
          </p:nvSpPr>
          <p:spPr>
            <a:xfrm flipH="false" flipV="false" rot="0">
              <a:off x="0" y="0"/>
              <a:ext cx="1050498" cy="596670"/>
            </a:xfrm>
            <a:custGeom>
              <a:avLst/>
              <a:gdLst/>
              <a:ahLst/>
              <a:cxnLst/>
              <a:rect r="r" b="b" t="t" l="l"/>
              <a:pathLst>
                <a:path h="596670" w="1050498">
                  <a:moveTo>
                    <a:pt x="847298" y="0"/>
                  </a:moveTo>
                  <a:lnTo>
                    <a:pt x="0" y="0"/>
                  </a:lnTo>
                  <a:lnTo>
                    <a:pt x="203200" y="596670"/>
                  </a:lnTo>
                  <a:lnTo>
                    <a:pt x="1050498" y="596670"/>
                  </a:lnTo>
                  <a:lnTo>
                    <a:pt x="847298" y="0"/>
                  </a:lnTo>
                  <a:close/>
                </a:path>
              </a:pathLst>
            </a:custGeom>
            <a:solidFill>
              <a:srgbClr val="EFBD27"/>
            </a:solidFill>
            <a:ln cap="sq">
              <a:noFill/>
              <a:prstDash val="solid"/>
              <a:miter/>
            </a:ln>
          </p:spPr>
        </p:sp>
        <p:sp>
          <p:nvSpPr>
            <p:cNvPr name="TextBox 6" id="6"/>
            <p:cNvSpPr txBox="true"/>
            <p:nvPr/>
          </p:nvSpPr>
          <p:spPr>
            <a:xfrm>
              <a:off x="101600" y="-38100"/>
              <a:ext cx="847298" cy="63477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368160" y="2259670"/>
            <a:ext cx="10343458" cy="8147965"/>
            <a:chOff x="0" y="0"/>
            <a:chExt cx="707815" cy="557575"/>
          </a:xfrm>
        </p:grpSpPr>
        <p:sp>
          <p:nvSpPr>
            <p:cNvPr name="Freeform 8" id="8"/>
            <p:cNvSpPr/>
            <p:nvPr/>
          </p:nvSpPr>
          <p:spPr>
            <a:xfrm flipH="false" flipV="false" rot="0">
              <a:off x="2471" y="0"/>
              <a:ext cx="702873" cy="557575"/>
            </a:xfrm>
            <a:custGeom>
              <a:avLst/>
              <a:gdLst/>
              <a:ahLst/>
              <a:cxnLst/>
              <a:rect r="r" b="b" t="t" l="l"/>
              <a:pathLst>
                <a:path h="557575" w="702873">
                  <a:moveTo>
                    <a:pt x="493911" y="0"/>
                  </a:moveTo>
                  <a:lnTo>
                    <a:pt x="5762" y="0"/>
                  </a:lnTo>
                  <a:cubicBezTo>
                    <a:pt x="3882" y="0"/>
                    <a:pt x="2120" y="918"/>
                    <a:pt x="1041" y="2458"/>
                  </a:cubicBezTo>
                  <a:cubicBezTo>
                    <a:pt x="-37" y="3999"/>
                    <a:pt x="-296" y="5969"/>
                    <a:pt x="348" y="7736"/>
                  </a:cubicBezTo>
                  <a:lnTo>
                    <a:pt x="197910" y="549839"/>
                  </a:lnTo>
                  <a:cubicBezTo>
                    <a:pt x="199603" y="554484"/>
                    <a:pt x="204019" y="557575"/>
                    <a:pt x="208962" y="557575"/>
                  </a:cubicBezTo>
                  <a:lnTo>
                    <a:pt x="697111" y="557575"/>
                  </a:lnTo>
                  <a:cubicBezTo>
                    <a:pt x="698991" y="557575"/>
                    <a:pt x="700753" y="556657"/>
                    <a:pt x="701832" y="555117"/>
                  </a:cubicBezTo>
                  <a:cubicBezTo>
                    <a:pt x="702910" y="553576"/>
                    <a:pt x="703169" y="551606"/>
                    <a:pt x="702525" y="549839"/>
                  </a:cubicBezTo>
                  <a:lnTo>
                    <a:pt x="504963" y="7736"/>
                  </a:lnTo>
                  <a:cubicBezTo>
                    <a:pt x="503270" y="3091"/>
                    <a:pt x="498854" y="0"/>
                    <a:pt x="493911" y="0"/>
                  </a:cubicBezTo>
                  <a:close/>
                </a:path>
              </a:pathLst>
            </a:custGeom>
            <a:blipFill>
              <a:blip r:embed="rId6"/>
              <a:stretch>
                <a:fillRect l="-45" t="-469" r="-45" b="-469"/>
              </a:stretch>
            </a:blipFill>
          </p:spPr>
        </p:sp>
      </p:grpSp>
      <p:grpSp>
        <p:nvGrpSpPr>
          <p:cNvPr name="Group 9" id="9"/>
          <p:cNvGrpSpPr/>
          <p:nvPr/>
        </p:nvGrpSpPr>
        <p:grpSpPr>
          <a:xfrm rot="0">
            <a:off x="-1544825" y="8535973"/>
            <a:ext cx="3836093" cy="2241066"/>
            <a:chOff x="0" y="0"/>
            <a:chExt cx="995110" cy="581349"/>
          </a:xfrm>
        </p:grpSpPr>
        <p:sp>
          <p:nvSpPr>
            <p:cNvPr name="Freeform 10" id="10"/>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11" id="11"/>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10800000">
            <a:off x="1417618" y="1028700"/>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4629513" y="8758703"/>
            <a:ext cx="2153466" cy="581993"/>
            <a:chOff x="0" y="0"/>
            <a:chExt cx="669810" cy="181022"/>
          </a:xfrm>
        </p:grpSpPr>
        <p:sp>
          <p:nvSpPr>
            <p:cNvPr name="Freeform 14" id="14"/>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5" id="15"/>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9975298" y="634455"/>
            <a:ext cx="7249242" cy="1434715"/>
          </a:xfrm>
          <a:prstGeom prst="rect">
            <a:avLst/>
          </a:prstGeom>
        </p:spPr>
        <p:txBody>
          <a:bodyPr anchor="t" rtlCol="false" tIns="0" lIns="0" bIns="0" rIns="0">
            <a:spAutoFit/>
          </a:bodyPr>
          <a:lstStyle/>
          <a:p>
            <a:pPr algn="l">
              <a:lnSpc>
                <a:spcPts val="11727"/>
              </a:lnSpc>
            </a:pPr>
            <a:r>
              <a:rPr lang="en-US" sz="8377">
                <a:solidFill>
                  <a:srgbClr val="EFBD27"/>
                </a:solidFill>
                <a:latin typeface="Anton"/>
                <a:ea typeface="Anton"/>
                <a:cs typeface="Anton"/>
                <a:sym typeface="Anton"/>
              </a:rPr>
              <a:t>LATAR BELAKANG</a:t>
            </a:r>
          </a:p>
        </p:txBody>
      </p:sp>
      <p:sp>
        <p:nvSpPr>
          <p:cNvPr name="TextBox 18" id="18"/>
          <p:cNvSpPr txBox="true"/>
          <p:nvPr/>
        </p:nvSpPr>
        <p:spPr>
          <a:xfrm rot="0">
            <a:off x="9975298" y="2116795"/>
            <a:ext cx="7073003" cy="6819900"/>
          </a:xfrm>
          <a:prstGeom prst="rect">
            <a:avLst/>
          </a:prstGeom>
        </p:spPr>
        <p:txBody>
          <a:bodyPr anchor="t" rtlCol="false" tIns="0" lIns="0" bIns="0" rIns="0">
            <a:spAutoFit/>
          </a:bodyPr>
          <a:lstStyle/>
          <a:p>
            <a:pPr algn="just">
              <a:lnSpc>
                <a:spcPts val="3224"/>
              </a:lnSpc>
            </a:pPr>
            <a:r>
              <a:rPr lang="en-US" sz="2499">
                <a:solidFill>
                  <a:srgbClr val="FFFFFF"/>
                </a:solidFill>
                <a:latin typeface="Poppins"/>
                <a:ea typeface="Poppins"/>
                <a:cs typeface="Poppins"/>
                <a:sym typeface="Poppins"/>
              </a:rPr>
              <a:t>Industri sepak bola modern tidak lagi hanya mengandalkan intuisi pelatih, tetapi juga data performa pemain untuk mendukung keputusan tim. Di Premier League, banyak metrik seperti gol, assist, menit bermain, usia, kartu, dan asal negara pemain tersedia untuk dianalisis.</a:t>
            </a:r>
          </a:p>
          <a:p>
            <a:pPr algn="just">
              <a:lnSpc>
                <a:spcPts val="3224"/>
              </a:lnSpc>
            </a:pPr>
          </a:p>
          <a:p>
            <a:pPr algn="just">
              <a:lnSpc>
                <a:spcPts val="3224"/>
              </a:lnSpc>
            </a:pPr>
            <a:r>
              <a:rPr lang="en-US" sz="2499">
                <a:solidFill>
                  <a:srgbClr val="FFFFFF"/>
                </a:solidFill>
                <a:latin typeface="Poppins"/>
                <a:ea typeface="Poppins"/>
                <a:cs typeface="Poppins"/>
                <a:sym typeface="Poppins"/>
              </a:rPr>
              <a:t>Namun, banyaknya data membuat manajer, analis klub, dan talent scout sulit melihat kontribusi pemain secara menyeluruh. Karena itu, dashboard ini dibuat untuk membantu mengevaluasi produktivitas pemain, ketergantungan tim, disiplin, kualitas gol penalti vs open play, serta distribusi usia dan asal negara pemain.</a:t>
            </a:r>
          </a:p>
        </p:txBody>
      </p:sp>
      <p:sp>
        <p:nvSpPr>
          <p:cNvPr name="TextBox 19" id="19"/>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1035805">
            <a:off x="7290934" y="8584336"/>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4225" y="1435111"/>
            <a:ext cx="7680410" cy="8851889"/>
            <a:chOff x="0" y="0"/>
            <a:chExt cx="483784" cy="557575"/>
          </a:xfrm>
        </p:grpSpPr>
        <p:sp>
          <p:nvSpPr>
            <p:cNvPr name="Freeform 4" id="4"/>
            <p:cNvSpPr/>
            <p:nvPr/>
          </p:nvSpPr>
          <p:spPr>
            <a:xfrm flipH="false" flipV="false" rot="0">
              <a:off x="3327" y="0"/>
              <a:ext cx="477129" cy="557575"/>
            </a:xfrm>
            <a:custGeom>
              <a:avLst/>
              <a:gdLst/>
              <a:ahLst/>
              <a:cxnLst/>
              <a:rect r="r" b="b" t="t" l="l"/>
              <a:pathLst>
                <a:path h="557575" w="477129">
                  <a:moveTo>
                    <a:pt x="266169" y="0"/>
                  </a:moveTo>
                  <a:lnTo>
                    <a:pt x="7761" y="0"/>
                  </a:lnTo>
                  <a:cubicBezTo>
                    <a:pt x="5229" y="0"/>
                    <a:pt x="2855" y="1236"/>
                    <a:pt x="1403" y="3311"/>
                  </a:cubicBezTo>
                  <a:cubicBezTo>
                    <a:pt x="-49" y="5385"/>
                    <a:pt x="-398" y="8038"/>
                    <a:pt x="470" y="10418"/>
                  </a:cubicBezTo>
                  <a:lnTo>
                    <a:pt x="196076" y="547157"/>
                  </a:lnTo>
                  <a:cubicBezTo>
                    <a:pt x="198356" y="553412"/>
                    <a:pt x="204303" y="557575"/>
                    <a:pt x="210961" y="557575"/>
                  </a:cubicBezTo>
                  <a:lnTo>
                    <a:pt x="469369" y="557575"/>
                  </a:lnTo>
                  <a:cubicBezTo>
                    <a:pt x="471902" y="557575"/>
                    <a:pt x="474275" y="556339"/>
                    <a:pt x="475727" y="554264"/>
                  </a:cubicBezTo>
                  <a:cubicBezTo>
                    <a:pt x="477179" y="552189"/>
                    <a:pt x="477528" y="549536"/>
                    <a:pt x="476660" y="547157"/>
                  </a:cubicBezTo>
                  <a:lnTo>
                    <a:pt x="281054" y="10418"/>
                  </a:lnTo>
                  <a:cubicBezTo>
                    <a:pt x="278774" y="4163"/>
                    <a:pt x="272827" y="0"/>
                    <a:pt x="266169" y="0"/>
                  </a:cubicBezTo>
                  <a:close/>
                </a:path>
              </a:pathLst>
            </a:custGeom>
            <a:blipFill>
              <a:blip r:embed="rId4"/>
              <a:stretch>
                <a:fillRect l="-53875" t="0" r="-53875" b="0"/>
              </a:stretch>
            </a:blipFill>
          </p:spPr>
        </p:sp>
      </p:grpSp>
      <p:grpSp>
        <p:nvGrpSpPr>
          <p:cNvPr name="Group 5" id="5"/>
          <p:cNvGrpSpPr/>
          <p:nvPr/>
        </p:nvGrpSpPr>
        <p:grpSpPr>
          <a:xfrm rot="0">
            <a:off x="-1544825" y="8220162"/>
            <a:ext cx="3836093" cy="2241066"/>
            <a:chOff x="0" y="0"/>
            <a:chExt cx="995110" cy="581349"/>
          </a:xfrm>
        </p:grpSpPr>
        <p:sp>
          <p:nvSpPr>
            <p:cNvPr name="Freeform 6" id="6"/>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7" id="7"/>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997971" y="8194061"/>
            <a:ext cx="2265920" cy="1568799"/>
            <a:chOff x="0" y="0"/>
            <a:chExt cx="1050498" cy="727308"/>
          </a:xfrm>
        </p:grpSpPr>
        <p:sp>
          <p:nvSpPr>
            <p:cNvPr name="Freeform 9" id="9"/>
            <p:cNvSpPr/>
            <p:nvPr/>
          </p:nvSpPr>
          <p:spPr>
            <a:xfrm flipH="false" flipV="false" rot="0">
              <a:off x="0" y="0"/>
              <a:ext cx="1050498" cy="727308"/>
            </a:xfrm>
            <a:custGeom>
              <a:avLst/>
              <a:gdLst/>
              <a:ahLst/>
              <a:cxnLst/>
              <a:rect r="r" b="b" t="t" l="l"/>
              <a:pathLst>
                <a:path h="727308" w="1050498">
                  <a:moveTo>
                    <a:pt x="847298" y="0"/>
                  </a:moveTo>
                  <a:lnTo>
                    <a:pt x="0" y="0"/>
                  </a:lnTo>
                  <a:lnTo>
                    <a:pt x="203200" y="727308"/>
                  </a:lnTo>
                  <a:lnTo>
                    <a:pt x="1050498" y="727308"/>
                  </a:lnTo>
                  <a:lnTo>
                    <a:pt x="847298" y="0"/>
                  </a:lnTo>
                  <a:close/>
                </a:path>
              </a:pathLst>
            </a:custGeom>
            <a:solidFill>
              <a:srgbClr val="EFBD27"/>
            </a:solidFill>
            <a:ln cap="sq">
              <a:noFill/>
              <a:prstDash val="solid"/>
              <a:miter/>
            </a:ln>
          </p:spPr>
        </p:sp>
        <p:sp>
          <p:nvSpPr>
            <p:cNvPr name="TextBox 10" id="10"/>
            <p:cNvSpPr txBox="true"/>
            <p:nvPr/>
          </p:nvSpPr>
          <p:spPr>
            <a:xfrm>
              <a:off x="101600" y="-38100"/>
              <a:ext cx="847298" cy="76540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980210" y="4815542"/>
            <a:ext cx="4802810" cy="4593132"/>
            <a:chOff x="0" y="0"/>
            <a:chExt cx="583028" cy="557575"/>
          </a:xfrm>
        </p:grpSpPr>
        <p:sp>
          <p:nvSpPr>
            <p:cNvPr name="Freeform 13" id="13"/>
            <p:cNvSpPr/>
            <p:nvPr/>
          </p:nvSpPr>
          <p:spPr>
            <a:xfrm flipH="false" flipV="false" rot="0">
              <a:off x="5321" y="0"/>
              <a:ext cx="572386" cy="557575"/>
            </a:xfrm>
            <a:custGeom>
              <a:avLst/>
              <a:gdLst/>
              <a:ahLst/>
              <a:cxnLst/>
              <a:rect r="r" b="b" t="t" l="l"/>
              <a:pathLst>
                <a:path h="557575" w="572386">
                  <a:moveTo>
                    <a:pt x="356776" y="0"/>
                  </a:moveTo>
                  <a:lnTo>
                    <a:pt x="12411" y="0"/>
                  </a:lnTo>
                  <a:cubicBezTo>
                    <a:pt x="8361" y="0"/>
                    <a:pt x="4565" y="1976"/>
                    <a:pt x="2243" y="5294"/>
                  </a:cubicBezTo>
                  <a:cubicBezTo>
                    <a:pt x="-79" y="8612"/>
                    <a:pt x="-636" y="12855"/>
                    <a:pt x="750" y="16660"/>
                  </a:cubicBezTo>
                  <a:lnTo>
                    <a:pt x="191808" y="540915"/>
                  </a:lnTo>
                  <a:cubicBezTo>
                    <a:pt x="195453" y="550918"/>
                    <a:pt x="204964" y="557575"/>
                    <a:pt x="215611" y="557575"/>
                  </a:cubicBezTo>
                  <a:lnTo>
                    <a:pt x="559976" y="557575"/>
                  </a:lnTo>
                  <a:cubicBezTo>
                    <a:pt x="564026" y="557575"/>
                    <a:pt x="567821" y="555599"/>
                    <a:pt x="570143" y="552281"/>
                  </a:cubicBezTo>
                  <a:cubicBezTo>
                    <a:pt x="572465" y="548963"/>
                    <a:pt x="573023" y="544720"/>
                    <a:pt x="571636" y="540915"/>
                  </a:cubicBezTo>
                  <a:lnTo>
                    <a:pt x="380579" y="16660"/>
                  </a:lnTo>
                  <a:cubicBezTo>
                    <a:pt x="376933" y="6657"/>
                    <a:pt x="367422" y="0"/>
                    <a:pt x="356776" y="0"/>
                  </a:cubicBezTo>
                  <a:close/>
                </a:path>
              </a:pathLst>
            </a:custGeom>
            <a:blipFill>
              <a:blip r:embed="rId7"/>
              <a:stretch>
                <a:fillRect l="-36588" t="0" r="-36588" b="0"/>
              </a:stretch>
            </a:blipFill>
          </p:spPr>
        </p:sp>
      </p:grpSp>
      <p:grpSp>
        <p:nvGrpSpPr>
          <p:cNvPr name="Group 14" id="14"/>
          <p:cNvGrpSpPr/>
          <p:nvPr/>
        </p:nvGrpSpPr>
        <p:grpSpPr>
          <a:xfrm rot="0">
            <a:off x="14629513" y="8758703"/>
            <a:ext cx="2153466" cy="581993"/>
            <a:chOff x="0" y="0"/>
            <a:chExt cx="669810" cy="181022"/>
          </a:xfrm>
        </p:grpSpPr>
        <p:sp>
          <p:nvSpPr>
            <p:cNvPr name="Freeform 15" id="15"/>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6" id="16"/>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5400000">
            <a:off x="16328500" y="2485893"/>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4714349" y="2346497"/>
            <a:ext cx="4227085" cy="1499503"/>
          </a:xfrm>
          <a:prstGeom prst="rect">
            <a:avLst/>
          </a:prstGeom>
        </p:spPr>
        <p:txBody>
          <a:bodyPr anchor="t" rtlCol="false" tIns="0" lIns="0" bIns="0" rIns="0">
            <a:spAutoFit/>
          </a:bodyPr>
          <a:lstStyle/>
          <a:p>
            <a:pPr algn="l">
              <a:lnSpc>
                <a:spcPts val="12237"/>
              </a:lnSpc>
            </a:pPr>
            <a:r>
              <a:rPr lang="en-US" sz="8740">
                <a:solidFill>
                  <a:srgbClr val="FFFFFF"/>
                </a:solidFill>
                <a:latin typeface="Anton"/>
                <a:ea typeface="Anton"/>
                <a:cs typeface="Anton"/>
                <a:sym typeface="Anton"/>
              </a:rPr>
              <a:t>MASALAH</a:t>
            </a:r>
          </a:p>
        </p:txBody>
      </p:sp>
      <p:sp>
        <p:nvSpPr>
          <p:cNvPr name="TextBox 20" id="20"/>
          <p:cNvSpPr txBox="true"/>
          <p:nvPr/>
        </p:nvSpPr>
        <p:spPr>
          <a:xfrm rot="0">
            <a:off x="9335009" y="1482086"/>
            <a:ext cx="7447970" cy="6419850"/>
          </a:xfrm>
          <a:prstGeom prst="rect">
            <a:avLst/>
          </a:prstGeom>
        </p:spPr>
        <p:txBody>
          <a:bodyPr anchor="t" rtlCol="false" tIns="0" lIns="0" bIns="0" rIns="0">
            <a:spAutoFit/>
          </a:bodyPr>
          <a:lstStyle/>
          <a:p>
            <a:pPr algn="just" marL="539749" indent="-269875" lvl="1">
              <a:lnSpc>
                <a:spcPts val="3224"/>
              </a:lnSpc>
              <a:buFont typeface="Arial"/>
              <a:buChar char="•"/>
            </a:pPr>
            <a:r>
              <a:rPr lang="en-US" sz="2499">
                <a:solidFill>
                  <a:srgbClr val="FFFFFF"/>
                </a:solidFill>
                <a:latin typeface="Poppins"/>
                <a:ea typeface="Poppins"/>
                <a:cs typeface="Poppins"/>
                <a:sym typeface="Poppins"/>
              </a:rPr>
              <a:t>Siapa pemain dengan produktivitas tertinggi berdasarkan gol, assist, serta perbandingan gol penalti dan non-penalti pada setiap tim?</a:t>
            </a:r>
          </a:p>
          <a:p>
            <a:pPr algn="just" marL="539749" indent="-269875" lvl="1">
              <a:lnSpc>
                <a:spcPts val="3224"/>
              </a:lnSpc>
              <a:buFont typeface="Arial"/>
              <a:buChar char="•"/>
            </a:pPr>
            <a:r>
              <a:rPr lang="en-US" sz="2499">
                <a:solidFill>
                  <a:srgbClr val="FFFFFF"/>
                </a:solidFill>
                <a:latin typeface="Poppins"/>
                <a:ea typeface="Poppins"/>
                <a:cs typeface="Poppins"/>
                <a:sym typeface="Poppins"/>
              </a:rPr>
              <a:t>Pemain mana yang paling diandalkan oleh tim berdasarkan total menit bermain, dan bagaimana hubungannya dengan usia pemain?</a:t>
            </a:r>
          </a:p>
          <a:p>
            <a:pPr algn="just" marL="539749" indent="-269875" lvl="1">
              <a:lnSpc>
                <a:spcPts val="3224"/>
              </a:lnSpc>
              <a:buFont typeface="Arial"/>
              <a:buChar char="•"/>
            </a:pPr>
            <a:r>
              <a:rPr lang="en-US" sz="2499">
                <a:solidFill>
                  <a:srgbClr val="FFFFFF"/>
                </a:solidFill>
                <a:latin typeface="Poppins"/>
                <a:ea typeface="Poppins"/>
                <a:cs typeface="Poppins"/>
                <a:sym typeface="Poppins"/>
              </a:rPr>
              <a:t>Bagaimana tingkat disiplin pemain berdasarkan rasio kartu per 90 menit, serta pemain mana yang memiliki risiko pelanggaran paling tinggi?</a:t>
            </a:r>
          </a:p>
          <a:p>
            <a:pPr algn="just" marL="539749" indent="-269875" lvl="1">
              <a:lnSpc>
                <a:spcPts val="3224"/>
              </a:lnSpc>
              <a:buFont typeface="Arial"/>
              <a:buChar char="•"/>
            </a:pPr>
            <a:r>
              <a:rPr lang="en-US" sz="2499">
                <a:solidFill>
                  <a:srgbClr val="FFFFFF"/>
                </a:solidFill>
                <a:latin typeface="Poppins"/>
                <a:ea typeface="Poppins"/>
                <a:cs typeface="Poppins"/>
                <a:sym typeface="Poppins"/>
              </a:rPr>
              <a:t>Bagaimana distribusi pemain berdasarkan kelompok usia dan asal negara, serta kelompok mana yang paling dominan dalam skuad Premier League 2024/2025?</a:t>
            </a:r>
          </a:p>
        </p:txBody>
      </p:sp>
      <p:sp>
        <p:nvSpPr>
          <p:cNvPr name="TextBox 21" id="21"/>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TextBox 22" id="22"/>
          <p:cNvSpPr txBox="true"/>
          <p:nvPr/>
        </p:nvSpPr>
        <p:spPr>
          <a:xfrm rot="0">
            <a:off x="4714349" y="1129661"/>
            <a:ext cx="4398481" cy="1499503"/>
          </a:xfrm>
          <a:prstGeom prst="rect">
            <a:avLst/>
          </a:prstGeom>
        </p:spPr>
        <p:txBody>
          <a:bodyPr anchor="t" rtlCol="false" tIns="0" lIns="0" bIns="0" rIns="0">
            <a:spAutoFit/>
          </a:bodyPr>
          <a:lstStyle/>
          <a:p>
            <a:pPr algn="l">
              <a:lnSpc>
                <a:spcPts val="12237"/>
              </a:lnSpc>
            </a:pPr>
            <a:r>
              <a:rPr lang="en-US" sz="8740">
                <a:solidFill>
                  <a:srgbClr val="EFBD27"/>
                </a:solidFill>
                <a:latin typeface="Anton"/>
                <a:ea typeface="Anton"/>
                <a:cs typeface="Anton"/>
                <a:sym typeface="Anton"/>
              </a:rPr>
              <a:t>RUMUSAN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821343">
            <a:off x="-2561351" y="-1079678"/>
            <a:ext cx="7774164" cy="3830542"/>
          </a:xfrm>
          <a:custGeom>
            <a:avLst/>
            <a:gdLst/>
            <a:ahLst/>
            <a:cxnLst/>
            <a:rect r="r" b="b" t="t" l="l"/>
            <a:pathLst>
              <a:path h="3830542" w="7774164">
                <a:moveTo>
                  <a:pt x="7774163" y="0"/>
                </a:moveTo>
                <a:lnTo>
                  <a:pt x="0" y="0"/>
                </a:lnTo>
                <a:lnTo>
                  <a:pt x="0" y="3830542"/>
                </a:lnTo>
                <a:lnTo>
                  <a:pt x="7774163" y="3830542"/>
                </a:lnTo>
                <a:lnTo>
                  <a:pt x="7774163"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335099" y="7121986"/>
            <a:ext cx="2556825" cy="1549728"/>
            <a:chOff x="0" y="0"/>
            <a:chExt cx="1185364" cy="718466"/>
          </a:xfrm>
        </p:grpSpPr>
        <p:sp>
          <p:nvSpPr>
            <p:cNvPr name="Freeform 5" id="5"/>
            <p:cNvSpPr/>
            <p:nvPr/>
          </p:nvSpPr>
          <p:spPr>
            <a:xfrm flipH="false" flipV="false" rot="0">
              <a:off x="0" y="0"/>
              <a:ext cx="1185364" cy="718466"/>
            </a:xfrm>
            <a:custGeom>
              <a:avLst/>
              <a:gdLst/>
              <a:ahLst/>
              <a:cxnLst/>
              <a:rect r="r" b="b" t="t" l="l"/>
              <a:pathLst>
                <a:path h="718466" w="1185364">
                  <a:moveTo>
                    <a:pt x="982164" y="0"/>
                  </a:moveTo>
                  <a:lnTo>
                    <a:pt x="0" y="0"/>
                  </a:lnTo>
                  <a:lnTo>
                    <a:pt x="203200" y="718466"/>
                  </a:lnTo>
                  <a:lnTo>
                    <a:pt x="1185364" y="718466"/>
                  </a:lnTo>
                  <a:lnTo>
                    <a:pt x="982164" y="0"/>
                  </a:lnTo>
                  <a:close/>
                </a:path>
              </a:pathLst>
            </a:custGeom>
            <a:solidFill>
              <a:srgbClr val="EFBD27"/>
            </a:solidFill>
            <a:ln cap="sq">
              <a:noFill/>
              <a:prstDash val="solid"/>
              <a:miter/>
            </a:ln>
          </p:spPr>
        </p:sp>
        <p:sp>
          <p:nvSpPr>
            <p:cNvPr name="TextBox 6" id="6"/>
            <p:cNvSpPr txBox="true"/>
            <p:nvPr/>
          </p:nvSpPr>
          <p:spPr>
            <a:xfrm>
              <a:off x="101600" y="-38100"/>
              <a:ext cx="982164" cy="756566"/>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44000" y="-167194"/>
            <a:ext cx="8894012" cy="8390490"/>
            <a:chOff x="0" y="0"/>
            <a:chExt cx="603052" cy="568911"/>
          </a:xfrm>
        </p:grpSpPr>
        <p:sp>
          <p:nvSpPr>
            <p:cNvPr name="Freeform 8" id="8"/>
            <p:cNvSpPr/>
            <p:nvPr/>
          </p:nvSpPr>
          <p:spPr>
            <a:xfrm flipH="false" flipV="false" rot="0">
              <a:off x="2827" y="0"/>
              <a:ext cx="597397" cy="568911"/>
            </a:xfrm>
            <a:custGeom>
              <a:avLst/>
              <a:gdLst/>
              <a:ahLst/>
              <a:cxnLst/>
              <a:rect r="r" b="b" t="t" l="l"/>
              <a:pathLst>
                <a:path h="568911" w="597397">
                  <a:moveTo>
                    <a:pt x="387450" y="0"/>
                  </a:moveTo>
                  <a:lnTo>
                    <a:pt x="6748" y="0"/>
                  </a:lnTo>
                  <a:cubicBezTo>
                    <a:pt x="4554" y="0"/>
                    <a:pt x="2497" y="1067"/>
                    <a:pt x="1232" y="2861"/>
                  </a:cubicBezTo>
                  <a:cubicBezTo>
                    <a:pt x="-32" y="4654"/>
                    <a:pt x="-344" y="6951"/>
                    <a:pt x="394" y="9017"/>
                  </a:cubicBezTo>
                  <a:lnTo>
                    <a:pt x="197152" y="559894"/>
                  </a:lnTo>
                  <a:cubicBezTo>
                    <a:pt x="199084" y="565302"/>
                    <a:pt x="204206" y="568911"/>
                    <a:pt x="209948" y="568911"/>
                  </a:cubicBezTo>
                  <a:lnTo>
                    <a:pt x="590650" y="568911"/>
                  </a:lnTo>
                  <a:cubicBezTo>
                    <a:pt x="592844" y="568911"/>
                    <a:pt x="594902" y="567844"/>
                    <a:pt x="596166" y="566050"/>
                  </a:cubicBezTo>
                  <a:cubicBezTo>
                    <a:pt x="597430" y="564257"/>
                    <a:pt x="597743" y="561960"/>
                    <a:pt x="597005" y="559894"/>
                  </a:cubicBezTo>
                  <a:lnTo>
                    <a:pt x="400246" y="9017"/>
                  </a:lnTo>
                  <a:cubicBezTo>
                    <a:pt x="398314" y="3610"/>
                    <a:pt x="393192" y="0"/>
                    <a:pt x="387450" y="0"/>
                  </a:cubicBezTo>
                  <a:close/>
                </a:path>
              </a:pathLst>
            </a:custGeom>
            <a:blipFill>
              <a:blip r:embed="rId6"/>
              <a:stretch>
                <a:fillRect l="-21334" t="0" r="-21334" b="0"/>
              </a:stretch>
            </a:blipFill>
          </p:spPr>
        </p:sp>
      </p:grpSp>
      <p:sp>
        <p:nvSpPr>
          <p:cNvPr name="TextBox 9" id="9"/>
          <p:cNvSpPr txBox="true"/>
          <p:nvPr/>
        </p:nvSpPr>
        <p:spPr>
          <a:xfrm rot="0">
            <a:off x="1325730" y="1063784"/>
            <a:ext cx="8515632" cy="2801923"/>
          </a:xfrm>
          <a:prstGeom prst="rect">
            <a:avLst/>
          </a:prstGeom>
        </p:spPr>
        <p:txBody>
          <a:bodyPr anchor="t" rtlCol="false" tIns="0" lIns="0" bIns="0" rIns="0">
            <a:spAutoFit/>
          </a:bodyPr>
          <a:lstStyle/>
          <a:p>
            <a:pPr algn="l">
              <a:lnSpc>
                <a:spcPts val="11258"/>
              </a:lnSpc>
            </a:pPr>
            <a:r>
              <a:rPr lang="en-US" sz="8041">
                <a:solidFill>
                  <a:srgbClr val="EFBD27"/>
                </a:solidFill>
                <a:latin typeface="Anton"/>
                <a:ea typeface="Anton"/>
                <a:cs typeface="Anton"/>
                <a:sym typeface="Anton"/>
              </a:rPr>
              <a:t>ARSITEKTUR &amp; TRANSFORMASI DATA</a:t>
            </a:r>
          </a:p>
        </p:txBody>
      </p:sp>
      <p:grpSp>
        <p:nvGrpSpPr>
          <p:cNvPr name="Group 10" id="10"/>
          <p:cNvGrpSpPr/>
          <p:nvPr/>
        </p:nvGrpSpPr>
        <p:grpSpPr>
          <a:xfrm rot="0">
            <a:off x="-352875" y="4459235"/>
            <a:ext cx="5291401" cy="488980"/>
            <a:chOff x="0" y="0"/>
            <a:chExt cx="1776125" cy="164132"/>
          </a:xfrm>
        </p:grpSpPr>
        <p:sp>
          <p:nvSpPr>
            <p:cNvPr name="Freeform 11" id="11"/>
            <p:cNvSpPr/>
            <p:nvPr/>
          </p:nvSpPr>
          <p:spPr>
            <a:xfrm flipH="false" flipV="false" rot="0">
              <a:off x="0" y="0"/>
              <a:ext cx="1776125" cy="164132"/>
            </a:xfrm>
            <a:custGeom>
              <a:avLst/>
              <a:gdLst/>
              <a:ahLst/>
              <a:cxnLst/>
              <a:rect r="r" b="b" t="t" l="l"/>
              <a:pathLst>
                <a:path h="164132" w="1776125">
                  <a:moveTo>
                    <a:pt x="0" y="0"/>
                  </a:moveTo>
                  <a:lnTo>
                    <a:pt x="1776125" y="0"/>
                  </a:lnTo>
                  <a:lnTo>
                    <a:pt x="1776125" y="164132"/>
                  </a:lnTo>
                  <a:lnTo>
                    <a:pt x="0" y="164132"/>
                  </a:lnTo>
                  <a:close/>
                </a:path>
              </a:pathLst>
            </a:custGeom>
            <a:solidFill>
              <a:srgbClr val="EFBD27"/>
            </a:solidFill>
          </p:spPr>
        </p:sp>
        <p:sp>
          <p:nvSpPr>
            <p:cNvPr name="TextBox 12" id="12"/>
            <p:cNvSpPr txBox="true"/>
            <p:nvPr/>
          </p:nvSpPr>
          <p:spPr>
            <a:xfrm>
              <a:off x="0" y="-38100"/>
              <a:ext cx="1776125" cy="202232"/>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02586" y="4539939"/>
            <a:ext cx="2566085" cy="298997"/>
          </a:xfrm>
          <a:prstGeom prst="rect">
            <a:avLst/>
          </a:prstGeom>
        </p:spPr>
        <p:txBody>
          <a:bodyPr anchor="t" rtlCol="false" tIns="0" lIns="0" bIns="0" rIns="0">
            <a:spAutoFit/>
          </a:bodyPr>
          <a:lstStyle/>
          <a:p>
            <a:pPr algn="l" marL="393710" indent="-196855" lvl="1">
              <a:lnSpc>
                <a:spcPts val="2352"/>
              </a:lnSpc>
              <a:buFont typeface="Arial"/>
              <a:buChar char="•"/>
            </a:pPr>
            <a:r>
              <a:rPr lang="en-US" b="true" sz="1823">
                <a:solidFill>
                  <a:srgbClr val="003A46"/>
                </a:solidFill>
                <a:latin typeface="Poppins Bold"/>
                <a:ea typeface="Poppins Bold"/>
                <a:cs typeface="Poppins Bold"/>
                <a:sym typeface="Poppins Bold"/>
              </a:rPr>
              <a:t>Cleaning</a:t>
            </a:r>
          </a:p>
        </p:txBody>
      </p:sp>
      <p:sp>
        <p:nvSpPr>
          <p:cNvPr name="TextBox 14" id="14"/>
          <p:cNvSpPr txBox="true"/>
          <p:nvPr/>
        </p:nvSpPr>
        <p:spPr>
          <a:xfrm rot="0">
            <a:off x="1202586" y="5044600"/>
            <a:ext cx="8186562" cy="616720"/>
          </a:xfrm>
          <a:prstGeom prst="rect">
            <a:avLst/>
          </a:prstGeom>
        </p:spPr>
        <p:txBody>
          <a:bodyPr anchor="t" rtlCol="false" tIns="0" lIns="0" bIns="0" rIns="0">
            <a:spAutoFit/>
          </a:bodyPr>
          <a:lstStyle/>
          <a:p>
            <a:pPr algn="just">
              <a:lnSpc>
                <a:spcPts val="2369"/>
              </a:lnSpc>
            </a:pPr>
            <a:r>
              <a:rPr lang="en-US" sz="1895">
                <a:solidFill>
                  <a:srgbClr val="FFFFFF"/>
                </a:solidFill>
                <a:latin typeface="Poppins"/>
                <a:ea typeface="Poppins"/>
                <a:cs typeface="Poppins"/>
                <a:sym typeface="Poppins"/>
              </a:rPr>
              <a:t>Normalisasi data (Split Column Nation) dan penanganan Missing Values (Drop Rows) pada 574 baris data awal.</a:t>
            </a:r>
          </a:p>
        </p:txBody>
      </p:sp>
      <p:grpSp>
        <p:nvGrpSpPr>
          <p:cNvPr name="Group 15" id="15"/>
          <p:cNvGrpSpPr/>
          <p:nvPr/>
        </p:nvGrpSpPr>
        <p:grpSpPr>
          <a:xfrm rot="0">
            <a:off x="-352875" y="6048870"/>
            <a:ext cx="5291401" cy="488980"/>
            <a:chOff x="0" y="0"/>
            <a:chExt cx="1776125" cy="164132"/>
          </a:xfrm>
        </p:grpSpPr>
        <p:sp>
          <p:nvSpPr>
            <p:cNvPr name="Freeform 16" id="16"/>
            <p:cNvSpPr/>
            <p:nvPr/>
          </p:nvSpPr>
          <p:spPr>
            <a:xfrm flipH="false" flipV="false" rot="0">
              <a:off x="0" y="0"/>
              <a:ext cx="1776125" cy="164132"/>
            </a:xfrm>
            <a:custGeom>
              <a:avLst/>
              <a:gdLst/>
              <a:ahLst/>
              <a:cxnLst/>
              <a:rect r="r" b="b" t="t" l="l"/>
              <a:pathLst>
                <a:path h="164132" w="1776125">
                  <a:moveTo>
                    <a:pt x="0" y="0"/>
                  </a:moveTo>
                  <a:lnTo>
                    <a:pt x="1776125" y="0"/>
                  </a:lnTo>
                  <a:lnTo>
                    <a:pt x="1776125" y="164132"/>
                  </a:lnTo>
                  <a:lnTo>
                    <a:pt x="0" y="164132"/>
                  </a:lnTo>
                  <a:close/>
                </a:path>
              </a:pathLst>
            </a:custGeom>
            <a:solidFill>
              <a:srgbClr val="EFBD27"/>
            </a:solidFill>
          </p:spPr>
        </p:sp>
        <p:sp>
          <p:nvSpPr>
            <p:cNvPr name="TextBox 17" id="17"/>
            <p:cNvSpPr txBox="true"/>
            <p:nvPr/>
          </p:nvSpPr>
          <p:spPr>
            <a:xfrm>
              <a:off x="0" y="-38100"/>
              <a:ext cx="1776125" cy="202232"/>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02586" y="6129574"/>
            <a:ext cx="2566085" cy="298997"/>
          </a:xfrm>
          <a:prstGeom prst="rect">
            <a:avLst/>
          </a:prstGeom>
        </p:spPr>
        <p:txBody>
          <a:bodyPr anchor="t" rtlCol="false" tIns="0" lIns="0" bIns="0" rIns="0">
            <a:spAutoFit/>
          </a:bodyPr>
          <a:lstStyle/>
          <a:p>
            <a:pPr algn="l" marL="393710" indent="-196855" lvl="1">
              <a:lnSpc>
                <a:spcPts val="2352"/>
              </a:lnSpc>
              <a:buFont typeface="Arial"/>
              <a:buChar char="•"/>
            </a:pPr>
            <a:r>
              <a:rPr lang="en-US" b="true" sz="1823">
                <a:solidFill>
                  <a:srgbClr val="003A46"/>
                </a:solidFill>
                <a:latin typeface="Poppins Bold"/>
                <a:ea typeface="Poppins Bold"/>
                <a:cs typeface="Poppins Bold"/>
                <a:sym typeface="Poppins Bold"/>
              </a:rPr>
              <a:t>Modelling</a:t>
            </a:r>
          </a:p>
        </p:txBody>
      </p:sp>
      <p:sp>
        <p:nvSpPr>
          <p:cNvPr name="TextBox 19" id="19"/>
          <p:cNvSpPr txBox="true"/>
          <p:nvPr/>
        </p:nvSpPr>
        <p:spPr>
          <a:xfrm rot="0">
            <a:off x="1202586" y="6651194"/>
            <a:ext cx="8186562" cy="588745"/>
          </a:xfrm>
          <a:prstGeom prst="rect">
            <a:avLst/>
          </a:prstGeom>
        </p:spPr>
        <p:txBody>
          <a:bodyPr anchor="t" rtlCol="false" tIns="0" lIns="0" bIns="0" rIns="0">
            <a:spAutoFit/>
          </a:bodyPr>
          <a:lstStyle/>
          <a:p>
            <a:pPr algn="just">
              <a:lnSpc>
                <a:spcPts val="2237"/>
              </a:lnSpc>
            </a:pPr>
            <a:r>
              <a:rPr lang="en-US" sz="1895">
                <a:solidFill>
                  <a:srgbClr val="FFFFFF"/>
                </a:solidFill>
                <a:latin typeface="Poppins"/>
                <a:ea typeface="Poppins"/>
                <a:cs typeface="Poppins"/>
                <a:sym typeface="Poppins"/>
              </a:rPr>
              <a:t>Skema Star Schema dengan Dim_Squad, Dim_Player, Dim_Position dan Fact_PlayerStats untuk analisis granular.</a:t>
            </a:r>
          </a:p>
        </p:txBody>
      </p:sp>
      <p:grpSp>
        <p:nvGrpSpPr>
          <p:cNvPr name="Group 20" id="20"/>
          <p:cNvGrpSpPr/>
          <p:nvPr/>
        </p:nvGrpSpPr>
        <p:grpSpPr>
          <a:xfrm rot="0">
            <a:off x="-352875" y="7480646"/>
            <a:ext cx="5291401" cy="488980"/>
            <a:chOff x="0" y="0"/>
            <a:chExt cx="1776125" cy="164132"/>
          </a:xfrm>
        </p:grpSpPr>
        <p:sp>
          <p:nvSpPr>
            <p:cNvPr name="Freeform 21" id="21"/>
            <p:cNvSpPr/>
            <p:nvPr/>
          </p:nvSpPr>
          <p:spPr>
            <a:xfrm flipH="false" flipV="false" rot="0">
              <a:off x="0" y="0"/>
              <a:ext cx="1776125" cy="164132"/>
            </a:xfrm>
            <a:custGeom>
              <a:avLst/>
              <a:gdLst/>
              <a:ahLst/>
              <a:cxnLst/>
              <a:rect r="r" b="b" t="t" l="l"/>
              <a:pathLst>
                <a:path h="164132" w="1776125">
                  <a:moveTo>
                    <a:pt x="0" y="0"/>
                  </a:moveTo>
                  <a:lnTo>
                    <a:pt x="1776125" y="0"/>
                  </a:lnTo>
                  <a:lnTo>
                    <a:pt x="1776125" y="164132"/>
                  </a:lnTo>
                  <a:lnTo>
                    <a:pt x="0" y="164132"/>
                  </a:lnTo>
                  <a:close/>
                </a:path>
              </a:pathLst>
            </a:custGeom>
            <a:solidFill>
              <a:srgbClr val="EFBD27"/>
            </a:solidFill>
          </p:spPr>
        </p:sp>
        <p:sp>
          <p:nvSpPr>
            <p:cNvPr name="TextBox 22" id="22"/>
            <p:cNvSpPr txBox="true"/>
            <p:nvPr/>
          </p:nvSpPr>
          <p:spPr>
            <a:xfrm>
              <a:off x="0" y="-38100"/>
              <a:ext cx="1776125" cy="202232"/>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202586" y="7561350"/>
            <a:ext cx="2566085" cy="298997"/>
          </a:xfrm>
          <a:prstGeom prst="rect">
            <a:avLst/>
          </a:prstGeom>
        </p:spPr>
        <p:txBody>
          <a:bodyPr anchor="t" rtlCol="false" tIns="0" lIns="0" bIns="0" rIns="0">
            <a:spAutoFit/>
          </a:bodyPr>
          <a:lstStyle/>
          <a:p>
            <a:pPr algn="l" marL="393710" indent="-196855" lvl="1">
              <a:lnSpc>
                <a:spcPts val="2352"/>
              </a:lnSpc>
              <a:buFont typeface="Arial"/>
              <a:buChar char="•"/>
            </a:pPr>
            <a:r>
              <a:rPr lang="en-US" b="true" sz="1823">
                <a:solidFill>
                  <a:srgbClr val="003A46"/>
                </a:solidFill>
                <a:latin typeface="Poppins Bold"/>
                <a:ea typeface="Poppins Bold"/>
                <a:cs typeface="Poppins Bold"/>
                <a:sym typeface="Poppins Bold"/>
              </a:rPr>
              <a:t>Tools</a:t>
            </a:r>
          </a:p>
        </p:txBody>
      </p:sp>
      <p:sp>
        <p:nvSpPr>
          <p:cNvPr name="TextBox 24" id="24"/>
          <p:cNvSpPr txBox="true"/>
          <p:nvPr/>
        </p:nvSpPr>
        <p:spPr>
          <a:xfrm rot="0">
            <a:off x="1202586" y="8082970"/>
            <a:ext cx="8360070" cy="588745"/>
          </a:xfrm>
          <a:prstGeom prst="rect">
            <a:avLst/>
          </a:prstGeom>
        </p:spPr>
        <p:txBody>
          <a:bodyPr anchor="t" rtlCol="false" tIns="0" lIns="0" bIns="0" rIns="0">
            <a:spAutoFit/>
          </a:bodyPr>
          <a:lstStyle/>
          <a:p>
            <a:pPr algn="just">
              <a:lnSpc>
                <a:spcPts val="2237"/>
              </a:lnSpc>
            </a:pPr>
            <a:r>
              <a:rPr lang="en-US" sz="1895">
                <a:solidFill>
                  <a:srgbClr val="FFFFFF"/>
                </a:solidFill>
                <a:latin typeface="Poppins"/>
                <a:ea typeface="Poppins"/>
                <a:cs typeface="Poppins"/>
                <a:sym typeface="Poppins"/>
              </a:rPr>
              <a:t>Power Query untuk transformasi, Power Pivot untuk relasi data, dan Pivot Charts untuk visualisasi interaktif.</a:t>
            </a:r>
          </a:p>
        </p:txBody>
      </p:sp>
      <p:grpSp>
        <p:nvGrpSpPr>
          <p:cNvPr name="Group 25" id="25"/>
          <p:cNvGrpSpPr/>
          <p:nvPr/>
        </p:nvGrpSpPr>
        <p:grpSpPr>
          <a:xfrm rot="0">
            <a:off x="14629513" y="8758703"/>
            <a:ext cx="2153466" cy="581993"/>
            <a:chOff x="0" y="0"/>
            <a:chExt cx="669810" cy="181022"/>
          </a:xfrm>
        </p:grpSpPr>
        <p:sp>
          <p:nvSpPr>
            <p:cNvPr name="Freeform 26" id="26"/>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27" id="27"/>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9" id="29"/>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Freeform 30" id="30"/>
          <p:cNvSpPr/>
          <p:nvPr/>
        </p:nvSpPr>
        <p:spPr>
          <a:xfrm flipH="false" flipV="false" rot="-5400000">
            <a:off x="16651125" y="1083811"/>
            <a:ext cx="1481097" cy="264746"/>
          </a:xfrm>
          <a:custGeom>
            <a:avLst/>
            <a:gdLst/>
            <a:ahLst/>
            <a:cxnLst/>
            <a:rect r="r" b="b" t="t" l="l"/>
            <a:pathLst>
              <a:path h="264746" w="1481097">
                <a:moveTo>
                  <a:pt x="0" y="0"/>
                </a:moveTo>
                <a:lnTo>
                  <a:pt x="1481096" y="0"/>
                </a:lnTo>
                <a:lnTo>
                  <a:pt x="1481096" y="264746"/>
                </a:lnTo>
                <a:lnTo>
                  <a:pt x="0" y="2647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1" id="31"/>
          <p:cNvSpPr/>
          <p:nvPr/>
        </p:nvSpPr>
        <p:spPr>
          <a:xfrm flipH="false" flipV="false" rot="0">
            <a:off x="10821696" y="9471065"/>
            <a:ext cx="1481097" cy="264746"/>
          </a:xfrm>
          <a:custGeom>
            <a:avLst/>
            <a:gdLst/>
            <a:ahLst/>
            <a:cxnLst/>
            <a:rect r="r" b="b" t="t" l="l"/>
            <a:pathLst>
              <a:path h="264746" w="1481097">
                <a:moveTo>
                  <a:pt x="0" y="0"/>
                </a:moveTo>
                <a:lnTo>
                  <a:pt x="1481097" y="0"/>
                </a:lnTo>
                <a:lnTo>
                  <a:pt x="1481097" y="264746"/>
                </a:lnTo>
                <a:lnTo>
                  <a:pt x="0" y="2647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394041">
            <a:off x="-2191072" y="-23455"/>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058510" y="655166"/>
            <a:ext cx="8170981" cy="1376896"/>
          </a:xfrm>
          <a:prstGeom prst="rect">
            <a:avLst/>
          </a:prstGeom>
        </p:spPr>
        <p:txBody>
          <a:bodyPr anchor="t" rtlCol="false" tIns="0" lIns="0" bIns="0" rIns="0">
            <a:spAutoFit/>
          </a:bodyPr>
          <a:lstStyle/>
          <a:p>
            <a:pPr algn="ctr">
              <a:lnSpc>
                <a:spcPts val="11258"/>
              </a:lnSpc>
            </a:pPr>
            <a:r>
              <a:rPr lang="en-US" sz="8041">
                <a:solidFill>
                  <a:srgbClr val="EFBD27"/>
                </a:solidFill>
                <a:latin typeface="Anton"/>
                <a:ea typeface="Anton"/>
                <a:cs typeface="Anton"/>
                <a:sym typeface="Anton"/>
              </a:rPr>
              <a:t>KPI SNAPSHOT:</a:t>
            </a:r>
          </a:p>
        </p:txBody>
      </p:sp>
      <p:grpSp>
        <p:nvGrpSpPr>
          <p:cNvPr name="Group 5" id="5"/>
          <p:cNvGrpSpPr/>
          <p:nvPr/>
        </p:nvGrpSpPr>
        <p:grpSpPr>
          <a:xfrm rot="0">
            <a:off x="2717495" y="3670362"/>
            <a:ext cx="6146097" cy="2459922"/>
            <a:chOff x="0" y="0"/>
            <a:chExt cx="2008616" cy="803931"/>
          </a:xfrm>
        </p:grpSpPr>
        <p:sp>
          <p:nvSpPr>
            <p:cNvPr name="Freeform 6" id="6"/>
            <p:cNvSpPr/>
            <p:nvPr/>
          </p:nvSpPr>
          <p:spPr>
            <a:xfrm flipH="false" flipV="false" rot="0">
              <a:off x="0" y="0"/>
              <a:ext cx="2008616" cy="803931"/>
            </a:xfrm>
            <a:custGeom>
              <a:avLst/>
              <a:gdLst/>
              <a:ahLst/>
              <a:cxnLst/>
              <a:rect r="r" b="b" t="t" l="l"/>
              <a:pathLst>
                <a:path h="803931" w="2008616">
                  <a:moveTo>
                    <a:pt x="0" y="0"/>
                  </a:moveTo>
                  <a:lnTo>
                    <a:pt x="2008616" y="0"/>
                  </a:lnTo>
                  <a:lnTo>
                    <a:pt x="2008616" y="803931"/>
                  </a:lnTo>
                  <a:lnTo>
                    <a:pt x="0" y="803931"/>
                  </a:lnTo>
                  <a:close/>
                </a:path>
              </a:pathLst>
            </a:custGeom>
            <a:solidFill>
              <a:srgbClr val="EFBD27"/>
            </a:solidFill>
          </p:spPr>
        </p:sp>
        <p:sp>
          <p:nvSpPr>
            <p:cNvPr name="TextBox 7" id="7"/>
            <p:cNvSpPr txBox="true"/>
            <p:nvPr/>
          </p:nvSpPr>
          <p:spPr>
            <a:xfrm>
              <a:off x="0" y="-38100"/>
              <a:ext cx="2008616" cy="84203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424408" y="3670362"/>
            <a:ext cx="6146097" cy="2459922"/>
            <a:chOff x="0" y="0"/>
            <a:chExt cx="2008616" cy="803931"/>
          </a:xfrm>
        </p:grpSpPr>
        <p:sp>
          <p:nvSpPr>
            <p:cNvPr name="Freeform 9" id="9"/>
            <p:cNvSpPr/>
            <p:nvPr/>
          </p:nvSpPr>
          <p:spPr>
            <a:xfrm flipH="false" flipV="false" rot="0">
              <a:off x="0" y="0"/>
              <a:ext cx="2008616" cy="803931"/>
            </a:xfrm>
            <a:custGeom>
              <a:avLst/>
              <a:gdLst/>
              <a:ahLst/>
              <a:cxnLst/>
              <a:rect r="r" b="b" t="t" l="l"/>
              <a:pathLst>
                <a:path h="803931" w="2008616">
                  <a:moveTo>
                    <a:pt x="0" y="0"/>
                  </a:moveTo>
                  <a:lnTo>
                    <a:pt x="2008616" y="0"/>
                  </a:lnTo>
                  <a:lnTo>
                    <a:pt x="2008616" y="803931"/>
                  </a:lnTo>
                  <a:lnTo>
                    <a:pt x="0" y="803931"/>
                  </a:lnTo>
                  <a:close/>
                </a:path>
              </a:pathLst>
            </a:custGeom>
            <a:solidFill>
              <a:srgbClr val="EFBD27"/>
            </a:solidFill>
          </p:spPr>
        </p:sp>
        <p:sp>
          <p:nvSpPr>
            <p:cNvPr name="TextBox 10" id="10"/>
            <p:cNvSpPr txBox="true"/>
            <p:nvPr/>
          </p:nvSpPr>
          <p:spPr>
            <a:xfrm>
              <a:off x="0" y="-38100"/>
              <a:ext cx="2008616" cy="84203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2717495" y="6464169"/>
            <a:ext cx="6146097" cy="2459922"/>
            <a:chOff x="0" y="0"/>
            <a:chExt cx="2008616" cy="803931"/>
          </a:xfrm>
        </p:grpSpPr>
        <p:sp>
          <p:nvSpPr>
            <p:cNvPr name="Freeform 12" id="12"/>
            <p:cNvSpPr/>
            <p:nvPr/>
          </p:nvSpPr>
          <p:spPr>
            <a:xfrm flipH="false" flipV="false" rot="0">
              <a:off x="0" y="0"/>
              <a:ext cx="2008616" cy="803931"/>
            </a:xfrm>
            <a:custGeom>
              <a:avLst/>
              <a:gdLst/>
              <a:ahLst/>
              <a:cxnLst/>
              <a:rect r="r" b="b" t="t" l="l"/>
              <a:pathLst>
                <a:path h="803931" w="2008616">
                  <a:moveTo>
                    <a:pt x="0" y="0"/>
                  </a:moveTo>
                  <a:lnTo>
                    <a:pt x="2008616" y="0"/>
                  </a:lnTo>
                  <a:lnTo>
                    <a:pt x="2008616" y="803931"/>
                  </a:lnTo>
                  <a:lnTo>
                    <a:pt x="0" y="803931"/>
                  </a:lnTo>
                  <a:close/>
                </a:path>
              </a:pathLst>
            </a:custGeom>
            <a:solidFill>
              <a:srgbClr val="EFBD27"/>
            </a:solidFill>
          </p:spPr>
        </p:sp>
        <p:sp>
          <p:nvSpPr>
            <p:cNvPr name="TextBox 13" id="13"/>
            <p:cNvSpPr txBox="true"/>
            <p:nvPr/>
          </p:nvSpPr>
          <p:spPr>
            <a:xfrm>
              <a:off x="0" y="-38100"/>
              <a:ext cx="2008616" cy="84203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424408" y="6464169"/>
            <a:ext cx="6146097" cy="2459922"/>
            <a:chOff x="0" y="0"/>
            <a:chExt cx="2008616" cy="803931"/>
          </a:xfrm>
        </p:grpSpPr>
        <p:sp>
          <p:nvSpPr>
            <p:cNvPr name="Freeform 15" id="15"/>
            <p:cNvSpPr/>
            <p:nvPr/>
          </p:nvSpPr>
          <p:spPr>
            <a:xfrm flipH="false" flipV="false" rot="0">
              <a:off x="0" y="0"/>
              <a:ext cx="2008616" cy="803931"/>
            </a:xfrm>
            <a:custGeom>
              <a:avLst/>
              <a:gdLst/>
              <a:ahLst/>
              <a:cxnLst/>
              <a:rect r="r" b="b" t="t" l="l"/>
              <a:pathLst>
                <a:path h="803931" w="2008616">
                  <a:moveTo>
                    <a:pt x="0" y="0"/>
                  </a:moveTo>
                  <a:lnTo>
                    <a:pt x="2008616" y="0"/>
                  </a:lnTo>
                  <a:lnTo>
                    <a:pt x="2008616" y="803931"/>
                  </a:lnTo>
                  <a:lnTo>
                    <a:pt x="0" y="803931"/>
                  </a:lnTo>
                  <a:close/>
                </a:path>
              </a:pathLst>
            </a:custGeom>
            <a:solidFill>
              <a:srgbClr val="EFBD27"/>
            </a:solidFill>
          </p:spPr>
        </p:sp>
        <p:sp>
          <p:nvSpPr>
            <p:cNvPr name="TextBox 16" id="16"/>
            <p:cNvSpPr txBox="true"/>
            <p:nvPr/>
          </p:nvSpPr>
          <p:spPr>
            <a:xfrm>
              <a:off x="0" y="-38100"/>
              <a:ext cx="2008616" cy="84203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3327936" y="4019373"/>
            <a:ext cx="4976154" cy="643667"/>
            <a:chOff x="0" y="0"/>
            <a:chExt cx="1626265" cy="210358"/>
          </a:xfrm>
        </p:grpSpPr>
        <p:sp>
          <p:nvSpPr>
            <p:cNvPr name="Freeform 18" id="18"/>
            <p:cNvSpPr/>
            <p:nvPr/>
          </p:nvSpPr>
          <p:spPr>
            <a:xfrm flipH="false" flipV="false" rot="0">
              <a:off x="0" y="0"/>
              <a:ext cx="1626265" cy="210358"/>
            </a:xfrm>
            <a:custGeom>
              <a:avLst/>
              <a:gdLst/>
              <a:ahLst/>
              <a:cxnLst/>
              <a:rect r="r" b="b" t="t" l="l"/>
              <a:pathLst>
                <a:path h="210358" w="1626265">
                  <a:moveTo>
                    <a:pt x="0" y="0"/>
                  </a:moveTo>
                  <a:lnTo>
                    <a:pt x="1626265" y="0"/>
                  </a:lnTo>
                  <a:lnTo>
                    <a:pt x="1626265" y="210358"/>
                  </a:lnTo>
                  <a:lnTo>
                    <a:pt x="0" y="210358"/>
                  </a:lnTo>
                  <a:close/>
                </a:path>
              </a:pathLst>
            </a:custGeom>
            <a:solidFill>
              <a:srgbClr val="003A46"/>
            </a:solidFill>
          </p:spPr>
        </p:sp>
        <p:sp>
          <p:nvSpPr>
            <p:cNvPr name="TextBox 19" id="19"/>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009379" y="4019373"/>
            <a:ext cx="4976154" cy="643667"/>
            <a:chOff x="0" y="0"/>
            <a:chExt cx="1626265" cy="210358"/>
          </a:xfrm>
        </p:grpSpPr>
        <p:sp>
          <p:nvSpPr>
            <p:cNvPr name="Freeform 21" id="21"/>
            <p:cNvSpPr/>
            <p:nvPr/>
          </p:nvSpPr>
          <p:spPr>
            <a:xfrm flipH="false" flipV="false" rot="0">
              <a:off x="0" y="0"/>
              <a:ext cx="1626265" cy="210358"/>
            </a:xfrm>
            <a:custGeom>
              <a:avLst/>
              <a:gdLst/>
              <a:ahLst/>
              <a:cxnLst/>
              <a:rect r="r" b="b" t="t" l="l"/>
              <a:pathLst>
                <a:path h="210358" w="1626265">
                  <a:moveTo>
                    <a:pt x="0" y="0"/>
                  </a:moveTo>
                  <a:lnTo>
                    <a:pt x="1626265" y="0"/>
                  </a:lnTo>
                  <a:lnTo>
                    <a:pt x="1626265" y="210358"/>
                  </a:lnTo>
                  <a:lnTo>
                    <a:pt x="0" y="210358"/>
                  </a:lnTo>
                  <a:close/>
                </a:path>
              </a:pathLst>
            </a:custGeom>
            <a:solidFill>
              <a:srgbClr val="003A46"/>
            </a:solidFill>
          </p:spPr>
        </p:sp>
        <p:sp>
          <p:nvSpPr>
            <p:cNvPr name="TextBox 22" id="22"/>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3327936" y="6785247"/>
            <a:ext cx="4976154" cy="643667"/>
            <a:chOff x="0" y="0"/>
            <a:chExt cx="1626265" cy="210358"/>
          </a:xfrm>
        </p:grpSpPr>
        <p:sp>
          <p:nvSpPr>
            <p:cNvPr name="Freeform 24" id="24"/>
            <p:cNvSpPr/>
            <p:nvPr/>
          </p:nvSpPr>
          <p:spPr>
            <a:xfrm flipH="false" flipV="false" rot="0">
              <a:off x="0" y="0"/>
              <a:ext cx="1626265" cy="210358"/>
            </a:xfrm>
            <a:custGeom>
              <a:avLst/>
              <a:gdLst/>
              <a:ahLst/>
              <a:cxnLst/>
              <a:rect r="r" b="b" t="t" l="l"/>
              <a:pathLst>
                <a:path h="210358" w="1626265">
                  <a:moveTo>
                    <a:pt x="0" y="0"/>
                  </a:moveTo>
                  <a:lnTo>
                    <a:pt x="1626265" y="0"/>
                  </a:lnTo>
                  <a:lnTo>
                    <a:pt x="1626265" y="210358"/>
                  </a:lnTo>
                  <a:lnTo>
                    <a:pt x="0" y="210358"/>
                  </a:lnTo>
                  <a:close/>
                </a:path>
              </a:pathLst>
            </a:custGeom>
            <a:solidFill>
              <a:srgbClr val="003A46"/>
            </a:solidFill>
          </p:spPr>
        </p:sp>
        <p:sp>
          <p:nvSpPr>
            <p:cNvPr name="TextBox 25" id="25"/>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0009379" y="6785247"/>
            <a:ext cx="4976154" cy="643667"/>
            <a:chOff x="0" y="0"/>
            <a:chExt cx="1626265" cy="210358"/>
          </a:xfrm>
        </p:grpSpPr>
        <p:sp>
          <p:nvSpPr>
            <p:cNvPr name="Freeform 27" id="27"/>
            <p:cNvSpPr/>
            <p:nvPr/>
          </p:nvSpPr>
          <p:spPr>
            <a:xfrm flipH="false" flipV="false" rot="0">
              <a:off x="0" y="0"/>
              <a:ext cx="1626265" cy="210358"/>
            </a:xfrm>
            <a:custGeom>
              <a:avLst/>
              <a:gdLst/>
              <a:ahLst/>
              <a:cxnLst/>
              <a:rect r="r" b="b" t="t" l="l"/>
              <a:pathLst>
                <a:path h="210358" w="1626265">
                  <a:moveTo>
                    <a:pt x="0" y="0"/>
                  </a:moveTo>
                  <a:lnTo>
                    <a:pt x="1626265" y="0"/>
                  </a:lnTo>
                  <a:lnTo>
                    <a:pt x="1626265" y="210358"/>
                  </a:lnTo>
                  <a:lnTo>
                    <a:pt x="0" y="210358"/>
                  </a:lnTo>
                  <a:close/>
                </a:path>
              </a:pathLst>
            </a:custGeom>
            <a:solidFill>
              <a:srgbClr val="003A46"/>
            </a:solidFill>
          </p:spPr>
        </p:sp>
        <p:sp>
          <p:nvSpPr>
            <p:cNvPr name="TextBox 28" id="28"/>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sp>
        <p:nvSpPr>
          <p:cNvPr name="Freeform 29" id="29"/>
          <p:cNvSpPr/>
          <p:nvPr/>
        </p:nvSpPr>
        <p:spPr>
          <a:xfrm flipH="false" flipV="false" rot="0">
            <a:off x="15228254" y="1028700"/>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15352079" y="9195903"/>
            <a:ext cx="2153466" cy="581993"/>
            <a:chOff x="0" y="0"/>
            <a:chExt cx="669810" cy="181022"/>
          </a:xfrm>
        </p:grpSpPr>
        <p:sp>
          <p:nvSpPr>
            <p:cNvPr name="Freeform 31" id="31"/>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32" id="32"/>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33" id="33"/>
          <p:cNvSpPr/>
          <p:nvPr/>
        </p:nvSpPr>
        <p:spPr>
          <a:xfrm flipH="false" flipV="false" rot="0">
            <a:off x="16774729" y="9330276"/>
            <a:ext cx="318695" cy="329826"/>
          </a:xfrm>
          <a:custGeom>
            <a:avLst/>
            <a:gdLst/>
            <a:ahLst/>
            <a:cxnLst/>
            <a:rect r="r" b="b" t="t" l="l"/>
            <a:pathLst>
              <a:path h="329826" w="318695">
                <a:moveTo>
                  <a:pt x="0" y="0"/>
                </a:moveTo>
                <a:lnTo>
                  <a:pt x="318694" y="0"/>
                </a:lnTo>
                <a:lnTo>
                  <a:pt x="318694" y="329827"/>
                </a:lnTo>
                <a:lnTo>
                  <a:pt x="0" y="329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0">
            <a:off x="-577284" y="9098113"/>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5" id="35"/>
          <p:cNvSpPr txBox="true"/>
          <p:nvPr/>
        </p:nvSpPr>
        <p:spPr>
          <a:xfrm rot="0">
            <a:off x="3737894" y="4150383"/>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Eze &amp; Mateta</a:t>
            </a:r>
          </a:p>
        </p:txBody>
      </p:sp>
      <p:sp>
        <p:nvSpPr>
          <p:cNvPr name="TextBox 36" id="36"/>
          <p:cNvSpPr txBox="true"/>
          <p:nvPr/>
        </p:nvSpPr>
        <p:spPr>
          <a:xfrm rot="0">
            <a:off x="10419338" y="4150383"/>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3.420</a:t>
            </a:r>
          </a:p>
        </p:txBody>
      </p:sp>
      <p:sp>
        <p:nvSpPr>
          <p:cNvPr name="TextBox 37" id="37"/>
          <p:cNvSpPr txBox="true"/>
          <p:nvPr/>
        </p:nvSpPr>
        <p:spPr>
          <a:xfrm rot="0">
            <a:off x="3737894" y="6916257"/>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25,38</a:t>
            </a:r>
          </a:p>
        </p:txBody>
      </p:sp>
      <p:sp>
        <p:nvSpPr>
          <p:cNvPr name="TextBox 38" id="38"/>
          <p:cNvSpPr txBox="true"/>
          <p:nvPr/>
        </p:nvSpPr>
        <p:spPr>
          <a:xfrm rot="0">
            <a:off x="10419338" y="6916257"/>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49</a:t>
            </a:r>
          </a:p>
        </p:txBody>
      </p:sp>
      <p:sp>
        <p:nvSpPr>
          <p:cNvPr name="TextBox 39" id="39"/>
          <p:cNvSpPr txBox="true"/>
          <p:nvPr/>
        </p:nvSpPr>
        <p:spPr>
          <a:xfrm rot="0">
            <a:off x="3514844" y="4871748"/>
            <a:ext cx="4561431" cy="3737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TOP ATTACKER</a:t>
            </a:r>
          </a:p>
        </p:txBody>
      </p:sp>
      <p:sp>
        <p:nvSpPr>
          <p:cNvPr name="TextBox 40" id="40"/>
          <p:cNvSpPr txBox="true"/>
          <p:nvPr/>
        </p:nvSpPr>
        <p:spPr>
          <a:xfrm rot="0">
            <a:off x="10122140" y="4844552"/>
            <a:ext cx="4750633" cy="745236"/>
          </a:xfrm>
          <a:prstGeom prst="rect">
            <a:avLst/>
          </a:prstGeom>
        </p:spPr>
        <p:txBody>
          <a:bodyPr anchor="t" rtlCol="false" tIns="0" lIns="0" bIns="0" rIns="0">
            <a:spAutoFit/>
          </a:bodyPr>
          <a:lstStyle/>
          <a:p>
            <a:pPr algn="ctr">
              <a:lnSpc>
                <a:spcPts val="2967"/>
              </a:lnSpc>
            </a:pPr>
            <a:r>
              <a:rPr lang="en-US" sz="2300" b="true">
                <a:solidFill>
                  <a:srgbClr val="003A46"/>
                </a:solidFill>
                <a:latin typeface="Poppins Medium"/>
                <a:ea typeface="Poppins Medium"/>
                <a:cs typeface="Poppins Medium"/>
                <a:sym typeface="Poppins Medium"/>
              </a:rPr>
              <a:t>MOST MINUTES PLAYED</a:t>
            </a:r>
          </a:p>
          <a:p>
            <a:pPr algn="ctr">
              <a:lnSpc>
                <a:spcPts val="2967"/>
              </a:lnSpc>
            </a:pPr>
            <a:r>
              <a:rPr lang="en-US" b="true" sz="2300">
                <a:solidFill>
                  <a:srgbClr val="003A46"/>
                </a:solidFill>
                <a:latin typeface="Poppins Medium"/>
                <a:ea typeface="Poppins Medium"/>
                <a:cs typeface="Poppins Medium"/>
                <a:sym typeface="Poppins Medium"/>
              </a:rPr>
              <a:t> (HENDERSON)</a:t>
            </a:r>
          </a:p>
        </p:txBody>
      </p:sp>
      <p:sp>
        <p:nvSpPr>
          <p:cNvPr name="TextBox 41" id="41"/>
          <p:cNvSpPr txBox="true"/>
          <p:nvPr/>
        </p:nvSpPr>
        <p:spPr>
          <a:xfrm rot="0">
            <a:off x="3509828" y="7590709"/>
            <a:ext cx="4384303" cy="3737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AVERAGE AGE</a:t>
            </a:r>
          </a:p>
        </p:txBody>
      </p:sp>
      <p:sp>
        <p:nvSpPr>
          <p:cNvPr name="TextBox 42" id="42"/>
          <p:cNvSpPr txBox="true"/>
          <p:nvPr/>
        </p:nvSpPr>
        <p:spPr>
          <a:xfrm rot="0">
            <a:off x="10305305" y="7665555"/>
            <a:ext cx="4384303" cy="3737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TOTAL GOALS</a:t>
            </a:r>
          </a:p>
        </p:txBody>
      </p:sp>
      <p:sp>
        <p:nvSpPr>
          <p:cNvPr name="TextBox 43" id="43"/>
          <p:cNvSpPr txBox="true"/>
          <p:nvPr/>
        </p:nvSpPr>
        <p:spPr>
          <a:xfrm rot="0">
            <a:off x="15752947" y="9368376"/>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TextBox 44" id="44"/>
          <p:cNvSpPr txBox="true"/>
          <p:nvPr/>
        </p:nvSpPr>
        <p:spPr>
          <a:xfrm rot="0">
            <a:off x="3151729" y="1879662"/>
            <a:ext cx="11984541" cy="1376896"/>
          </a:xfrm>
          <a:prstGeom prst="rect">
            <a:avLst/>
          </a:prstGeom>
        </p:spPr>
        <p:txBody>
          <a:bodyPr anchor="t" rtlCol="false" tIns="0" lIns="0" bIns="0" rIns="0">
            <a:spAutoFit/>
          </a:bodyPr>
          <a:lstStyle/>
          <a:p>
            <a:pPr algn="ctr">
              <a:lnSpc>
                <a:spcPts val="11258"/>
              </a:lnSpc>
            </a:pPr>
            <a:r>
              <a:rPr lang="en-US" sz="8041">
                <a:solidFill>
                  <a:srgbClr val="FFFFFF"/>
                </a:solidFill>
                <a:latin typeface="Anton"/>
                <a:ea typeface="Anton"/>
                <a:cs typeface="Anton"/>
                <a:sym typeface="Anton"/>
              </a:rPr>
              <a:t> CRYSTAL PALACE (EXAMPLE)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674565" y="4277801"/>
            <a:ext cx="2647295" cy="1503630"/>
            <a:chOff x="0" y="0"/>
            <a:chExt cx="1050498" cy="596670"/>
          </a:xfrm>
        </p:grpSpPr>
        <p:sp>
          <p:nvSpPr>
            <p:cNvPr name="Freeform 3" id="3"/>
            <p:cNvSpPr/>
            <p:nvPr/>
          </p:nvSpPr>
          <p:spPr>
            <a:xfrm flipH="false" flipV="false" rot="0">
              <a:off x="0" y="0"/>
              <a:ext cx="1050498" cy="596670"/>
            </a:xfrm>
            <a:custGeom>
              <a:avLst/>
              <a:gdLst/>
              <a:ahLst/>
              <a:cxnLst/>
              <a:rect r="r" b="b" t="t" l="l"/>
              <a:pathLst>
                <a:path h="596670" w="1050498">
                  <a:moveTo>
                    <a:pt x="847298" y="0"/>
                  </a:moveTo>
                  <a:lnTo>
                    <a:pt x="0" y="0"/>
                  </a:lnTo>
                  <a:lnTo>
                    <a:pt x="203200" y="596670"/>
                  </a:lnTo>
                  <a:lnTo>
                    <a:pt x="1050498" y="596670"/>
                  </a:lnTo>
                  <a:lnTo>
                    <a:pt x="847298" y="0"/>
                  </a:lnTo>
                  <a:close/>
                </a:path>
              </a:pathLst>
            </a:custGeom>
            <a:solidFill>
              <a:srgbClr val="EFBD27"/>
            </a:solidFill>
            <a:ln cap="sq">
              <a:noFill/>
              <a:prstDash val="solid"/>
              <a:miter/>
            </a:ln>
          </p:spPr>
        </p:sp>
        <p:sp>
          <p:nvSpPr>
            <p:cNvPr name="TextBox 4" id="4"/>
            <p:cNvSpPr txBox="true"/>
            <p:nvPr/>
          </p:nvSpPr>
          <p:spPr>
            <a:xfrm>
              <a:off x="101600" y="-38100"/>
              <a:ext cx="847298" cy="6347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4825140"/>
            <a:ext cx="7349131" cy="5461860"/>
            <a:chOff x="0" y="0"/>
            <a:chExt cx="750237" cy="557575"/>
          </a:xfrm>
        </p:grpSpPr>
        <p:sp>
          <p:nvSpPr>
            <p:cNvPr name="Freeform 7" id="7"/>
            <p:cNvSpPr/>
            <p:nvPr/>
          </p:nvSpPr>
          <p:spPr>
            <a:xfrm flipH="false" flipV="false" rot="0">
              <a:off x="6639" y="0"/>
              <a:ext cx="736960" cy="557575"/>
            </a:xfrm>
            <a:custGeom>
              <a:avLst/>
              <a:gdLst/>
              <a:ahLst/>
              <a:cxnLst/>
              <a:rect r="r" b="b" t="t" l="l"/>
              <a:pathLst>
                <a:path h="557575" w="736960">
                  <a:moveTo>
                    <a:pt x="518276" y="0"/>
                  </a:moveTo>
                  <a:lnTo>
                    <a:pt x="15483" y="0"/>
                  </a:lnTo>
                  <a:cubicBezTo>
                    <a:pt x="10431" y="0"/>
                    <a:pt x="5696" y="2465"/>
                    <a:pt x="2798" y="6605"/>
                  </a:cubicBezTo>
                  <a:cubicBezTo>
                    <a:pt x="-99" y="10745"/>
                    <a:pt x="-794" y="16038"/>
                    <a:pt x="936" y="20785"/>
                  </a:cubicBezTo>
                  <a:lnTo>
                    <a:pt x="188986" y="536790"/>
                  </a:lnTo>
                  <a:cubicBezTo>
                    <a:pt x="193534" y="549270"/>
                    <a:pt x="205400" y="557575"/>
                    <a:pt x="218683" y="557575"/>
                  </a:cubicBezTo>
                  <a:lnTo>
                    <a:pt x="721476" y="557575"/>
                  </a:lnTo>
                  <a:cubicBezTo>
                    <a:pt x="726529" y="557575"/>
                    <a:pt x="731264" y="555109"/>
                    <a:pt x="734161" y="550970"/>
                  </a:cubicBezTo>
                  <a:cubicBezTo>
                    <a:pt x="737058" y="546830"/>
                    <a:pt x="737753" y="541537"/>
                    <a:pt x="736023" y="536790"/>
                  </a:cubicBezTo>
                  <a:lnTo>
                    <a:pt x="547973" y="20785"/>
                  </a:lnTo>
                  <a:cubicBezTo>
                    <a:pt x="543425" y="8305"/>
                    <a:pt x="531559" y="0"/>
                    <a:pt x="518276" y="0"/>
                  </a:cubicBezTo>
                  <a:close/>
                </a:path>
              </a:pathLst>
            </a:custGeom>
            <a:blipFill>
              <a:blip r:embed="rId4"/>
              <a:stretch>
                <a:fillRect l="-17252" t="0" r="-17252" b="0"/>
              </a:stretch>
            </a:blipFill>
          </p:spPr>
        </p:sp>
      </p:grpSp>
      <p:grpSp>
        <p:nvGrpSpPr>
          <p:cNvPr name="Group 8" id="8"/>
          <p:cNvGrpSpPr/>
          <p:nvPr/>
        </p:nvGrpSpPr>
        <p:grpSpPr>
          <a:xfrm rot="0">
            <a:off x="-1086922" y="7556070"/>
            <a:ext cx="3836093" cy="2241066"/>
            <a:chOff x="0" y="0"/>
            <a:chExt cx="995110" cy="581349"/>
          </a:xfrm>
        </p:grpSpPr>
        <p:sp>
          <p:nvSpPr>
            <p:cNvPr name="Freeform 9" id="9"/>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10" id="10"/>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6964570" y="7556070"/>
            <a:ext cx="10678235" cy="1120533"/>
            <a:chOff x="0" y="0"/>
            <a:chExt cx="2812375" cy="295120"/>
          </a:xfrm>
        </p:grpSpPr>
        <p:sp>
          <p:nvSpPr>
            <p:cNvPr name="Freeform 12" id="12"/>
            <p:cNvSpPr/>
            <p:nvPr/>
          </p:nvSpPr>
          <p:spPr>
            <a:xfrm flipH="false" flipV="false" rot="0">
              <a:off x="0" y="0"/>
              <a:ext cx="2812375" cy="295120"/>
            </a:xfrm>
            <a:custGeom>
              <a:avLst/>
              <a:gdLst/>
              <a:ahLst/>
              <a:cxnLst/>
              <a:rect r="r" b="b" t="t" l="l"/>
              <a:pathLst>
                <a:path h="295120" w="2812375">
                  <a:moveTo>
                    <a:pt x="0" y="0"/>
                  </a:moveTo>
                  <a:lnTo>
                    <a:pt x="2812375" y="0"/>
                  </a:lnTo>
                  <a:lnTo>
                    <a:pt x="2812375" y="295120"/>
                  </a:lnTo>
                  <a:lnTo>
                    <a:pt x="0" y="295120"/>
                  </a:lnTo>
                  <a:close/>
                </a:path>
              </a:pathLst>
            </a:custGeom>
            <a:solidFill>
              <a:srgbClr val="EFBD27"/>
            </a:solidFill>
          </p:spPr>
        </p:sp>
        <p:sp>
          <p:nvSpPr>
            <p:cNvPr name="TextBox 13" id="13"/>
            <p:cNvSpPr txBox="true"/>
            <p:nvPr/>
          </p:nvSpPr>
          <p:spPr>
            <a:xfrm>
              <a:off x="0" y="-38100"/>
              <a:ext cx="2812375" cy="33322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5466997" y="1575433"/>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14629513" y="8863478"/>
            <a:ext cx="2153466" cy="581993"/>
            <a:chOff x="0" y="0"/>
            <a:chExt cx="669810" cy="181022"/>
          </a:xfrm>
        </p:grpSpPr>
        <p:sp>
          <p:nvSpPr>
            <p:cNvPr name="Freeform 16" id="16"/>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7" id="17"/>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6052162" y="8997850"/>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6964570" y="2508055"/>
            <a:ext cx="10556958" cy="4856201"/>
          </a:xfrm>
          <a:custGeom>
            <a:avLst/>
            <a:gdLst/>
            <a:ahLst/>
            <a:cxnLst/>
            <a:rect r="r" b="b" t="t" l="l"/>
            <a:pathLst>
              <a:path h="4856201" w="10556958">
                <a:moveTo>
                  <a:pt x="0" y="0"/>
                </a:moveTo>
                <a:lnTo>
                  <a:pt x="10556958" y="0"/>
                </a:lnTo>
                <a:lnTo>
                  <a:pt x="10556958" y="4856201"/>
                </a:lnTo>
                <a:lnTo>
                  <a:pt x="0" y="4856201"/>
                </a:lnTo>
                <a:lnTo>
                  <a:pt x="0" y="0"/>
                </a:lnTo>
                <a:close/>
              </a:path>
            </a:pathLst>
          </a:custGeom>
          <a:blipFill>
            <a:blip r:embed="rId9"/>
            <a:stretch>
              <a:fillRect l="0" t="0" r="0" b="0"/>
            </a:stretch>
          </a:blipFill>
        </p:spPr>
      </p:sp>
      <p:sp>
        <p:nvSpPr>
          <p:cNvPr name="TextBox 20" id="20"/>
          <p:cNvSpPr txBox="true"/>
          <p:nvPr/>
        </p:nvSpPr>
        <p:spPr>
          <a:xfrm rot="0">
            <a:off x="1257652" y="1131159"/>
            <a:ext cx="12704226" cy="1376896"/>
          </a:xfrm>
          <a:prstGeom prst="rect">
            <a:avLst/>
          </a:prstGeom>
        </p:spPr>
        <p:txBody>
          <a:bodyPr anchor="t" rtlCol="false" tIns="0" lIns="0" bIns="0" rIns="0">
            <a:spAutoFit/>
          </a:bodyPr>
          <a:lstStyle/>
          <a:p>
            <a:pPr algn="l">
              <a:lnSpc>
                <a:spcPts val="11258"/>
              </a:lnSpc>
            </a:pPr>
            <a:r>
              <a:rPr lang="en-US" sz="8041">
                <a:solidFill>
                  <a:srgbClr val="EFBD27"/>
                </a:solidFill>
                <a:latin typeface="Anton"/>
                <a:ea typeface="Anton"/>
                <a:cs typeface="Anton"/>
                <a:sym typeface="Anton"/>
              </a:rPr>
              <a:t>PEMAIN PALING PRODUKTIF (G+A)</a:t>
            </a:r>
          </a:p>
        </p:txBody>
      </p:sp>
      <p:sp>
        <p:nvSpPr>
          <p:cNvPr name="TextBox 21" id="21"/>
          <p:cNvSpPr txBox="true"/>
          <p:nvPr/>
        </p:nvSpPr>
        <p:spPr>
          <a:xfrm rot="0">
            <a:off x="7254221" y="7682949"/>
            <a:ext cx="10005079" cy="819150"/>
          </a:xfrm>
          <a:prstGeom prst="rect">
            <a:avLst/>
          </a:prstGeom>
        </p:spPr>
        <p:txBody>
          <a:bodyPr anchor="t" rtlCol="false" tIns="0" lIns="0" bIns="0" rIns="0">
            <a:spAutoFit/>
          </a:bodyPr>
          <a:lstStyle/>
          <a:p>
            <a:pPr algn="just">
              <a:lnSpc>
                <a:spcPts val="3224"/>
              </a:lnSpc>
            </a:pPr>
            <a:r>
              <a:rPr lang="en-US" b="true" sz="2499" i="true">
                <a:solidFill>
                  <a:srgbClr val="003A46"/>
                </a:solidFill>
                <a:latin typeface="Poppins Bold Italics"/>
                <a:ea typeface="Poppins Bold Italics"/>
                <a:cs typeface="Poppins Bold Italics"/>
                <a:sym typeface="Poppins Bold Italics"/>
              </a:rPr>
              <a:t>DATA MENUNJUKKAN MOHAMED SALAH MEMIMPIN LIGA DENGAN KONTRIBUSI TOTAL 47 (GOL + ASSIST).</a:t>
            </a:r>
          </a:p>
        </p:txBody>
      </p:sp>
      <p:sp>
        <p:nvSpPr>
          <p:cNvPr name="TextBox 22" id="22"/>
          <p:cNvSpPr txBox="true"/>
          <p:nvPr/>
        </p:nvSpPr>
        <p:spPr>
          <a:xfrm rot="0">
            <a:off x="15030380" y="9035950"/>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35805">
            <a:off x="2227001" y="653105"/>
            <a:ext cx="9433976" cy="4648377"/>
          </a:xfrm>
          <a:custGeom>
            <a:avLst/>
            <a:gdLst/>
            <a:ahLst/>
            <a:cxnLst/>
            <a:rect r="r" b="b" t="t" l="l"/>
            <a:pathLst>
              <a:path h="4648377" w="9433976">
                <a:moveTo>
                  <a:pt x="9433976" y="0"/>
                </a:moveTo>
                <a:lnTo>
                  <a:pt x="0" y="0"/>
                </a:lnTo>
                <a:lnTo>
                  <a:pt x="0" y="4648378"/>
                </a:lnTo>
                <a:lnTo>
                  <a:pt x="9433976" y="4648378"/>
                </a:lnTo>
                <a:lnTo>
                  <a:pt x="9433976" y="0"/>
                </a:lnTo>
                <a:close/>
              </a:path>
            </a:pathLst>
          </a:custGeom>
          <a:blipFill>
            <a:blip r:embed="rId4">
              <a:alphaModFix amt="18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454647" y="1890010"/>
            <a:ext cx="2415114" cy="1371754"/>
            <a:chOff x="0" y="0"/>
            <a:chExt cx="1050498" cy="596670"/>
          </a:xfrm>
        </p:grpSpPr>
        <p:sp>
          <p:nvSpPr>
            <p:cNvPr name="Freeform 5" id="5"/>
            <p:cNvSpPr/>
            <p:nvPr/>
          </p:nvSpPr>
          <p:spPr>
            <a:xfrm flipH="false" flipV="false" rot="0">
              <a:off x="0" y="0"/>
              <a:ext cx="1050498" cy="596670"/>
            </a:xfrm>
            <a:custGeom>
              <a:avLst/>
              <a:gdLst/>
              <a:ahLst/>
              <a:cxnLst/>
              <a:rect r="r" b="b" t="t" l="l"/>
              <a:pathLst>
                <a:path h="596670" w="1050498">
                  <a:moveTo>
                    <a:pt x="847298" y="0"/>
                  </a:moveTo>
                  <a:lnTo>
                    <a:pt x="0" y="0"/>
                  </a:lnTo>
                  <a:lnTo>
                    <a:pt x="203200" y="596670"/>
                  </a:lnTo>
                  <a:lnTo>
                    <a:pt x="1050498" y="596670"/>
                  </a:lnTo>
                  <a:lnTo>
                    <a:pt x="847298" y="0"/>
                  </a:lnTo>
                  <a:close/>
                </a:path>
              </a:pathLst>
            </a:custGeom>
            <a:solidFill>
              <a:srgbClr val="EFBD27"/>
            </a:solidFill>
            <a:ln cap="sq">
              <a:noFill/>
              <a:prstDash val="solid"/>
              <a:miter/>
            </a:ln>
          </p:spPr>
        </p:sp>
        <p:sp>
          <p:nvSpPr>
            <p:cNvPr name="TextBox 6" id="6"/>
            <p:cNvSpPr txBox="true"/>
            <p:nvPr/>
          </p:nvSpPr>
          <p:spPr>
            <a:xfrm>
              <a:off x="101600" y="-38100"/>
              <a:ext cx="847298" cy="63477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368160" y="2259670"/>
            <a:ext cx="10343458" cy="8147965"/>
            <a:chOff x="0" y="0"/>
            <a:chExt cx="707815" cy="557575"/>
          </a:xfrm>
        </p:grpSpPr>
        <p:sp>
          <p:nvSpPr>
            <p:cNvPr name="Freeform 8" id="8"/>
            <p:cNvSpPr/>
            <p:nvPr/>
          </p:nvSpPr>
          <p:spPr>
            <a:xfrm flipH="false" flipV="false" rot="0">
              <a:off x="2471" y="0"/>
              <a:ext cx="702873" cy="557575"/>
            </a:xfrm>
            <a:custGeom>
              <a:avLst/>
              <a:gdLst/>
              <a:ahLst/>
              <a:cxnLst/>
              <a:rect r="r" b="b" t="t" l="l"/>
              <a:pathLst>
                <a:path h="557575" w="702873">
                  <a:moveTo>
                    <a:pt x="493911" y="0"/>
                  </a:moveTo>
                  <a:lnTo>
                    <a:pt x="5762" y="0"/>
                  </a:lnTo>
                  <a:cubicBezTo>
                    <a:pt x="3882" y="0"/>
                    <a:pt x="2120" y="918"/>
                    <a:pt x="1041" y="2458"/>
                  </a:cubicBezTo>
                  <a:cubicBezTo>
                    <a:pt x="-37" y="3999"/>
                    <a:pt x="-296" y="5969"/>
                    <a:pt x="348" y="7736"/>
                  </a:cubicBezTo>
                  <a:lnTo>
                    <a:pt x="197910" y="549839"/>
                  </a:lnTo>
                  <a:cubicBezTo>
                    <a:pt x="199603" y="554484"/>
                    <a:pt x="204019" y="557575"/>
                    <a:pt x="208962" y="557575"/>
                  </a:cubicBezTo>
                  <a:lnTo>
                    <a:pt x="697111" y="557575"/>
                  </a:lnTo>
                  <a:cubicBezTo>
                    <a:pt x="698991" y="557575"/>
                    <a:pt x="700753" y="556657"/>
                    <a:pt x="701832" y="555117"/>
                  </a:cubicBezTo>
                  <a:cubicBezTo>
                    <a:pt x="702910" y="553576"/>
                    <a:pt x="703169" y="551606"/>
                    <a:pt x="702525" y="549839"/>
                  </a:cubicBezTo>
                  <a:lnTo>
                    <a:pt x="504963" y="7736"/>
                  </a:lnTo>
                  <a:cubicBezTo>
                    <a:pt x="503270" y="3091"/>
                    <a:pt x="498854" y="0"/>
                    <a:pt x="493911" y="0"/>
                  </a:cubicBezTo>
                  <a:close/>
                </a:path>
              </a:pathLst>
            </a:custGeom>
            <a:blipFill>
              <a:blip r:embed="rId6"/>
              <a:stretch>
                <a:fillRect l="-29327" t="0" r="-29327" b="0"/>
              </a:stretch>
            </a:blipFill>
          </p:spPr>
        </p:sp>
      </p:grpSp>
      <p:grpSp>
        <p:nvGrpSpPr>
          <p:cNvPr name="Group 9" id="9"/>
          <p:cNvGrpSpPr/>
          <p:nvPr/>
        </p:nvGrpSpPr>
        <p:grpSpPr>
          <a:xfrm rot="0">
            <a:off x="-1544825" y="8535973"/>
            <a:ext cx="3836093" cy="2241066"/>
            <a:chOff x="0" y="0"/>
            <a:chExt cx="995110" cy="581349"/>
          </a:xfrm>
        </p:grpSpPr>
        <p:sp>
          <p:nvSpPr>
            <p:cNvPr name="Freeform 10" id="10"/>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11" id="11"/>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10800000">
            <a:off x="1417618" y="1028700"/>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4629513" y="8758703"/>
            <a:ext cx="2153466" cy="581993"/>
            <a:chOff x="0" y="0"/>
            <a:chExt cx="669810" cy="181022"/>
          </a:xfrm>
        </p:grpSpPr>
        <p:sp>
          <p:nvSpPr>
            <p:cNvPr name="Freeform 14" id="14"/>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5" id="15"/>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9975298" y="1598378"/>
            <a:ext cx="7249242" cy="2920282"/>
          </a:xfrm>
          <a:prstGeom prst="rect">
            <a:avLst/>
          </a:prstGeom>
        </p:spPr>
        <p:txBody>
          <a:bodyPr anchor="t" rtlCol="false" tIns="0" lIns="0" bIns="0" rIns="0">
            <a:spAutoFit/>
          </a:bodyPr>
          <a:lstStyle/>
          <a:p>
            <a:pPr algn="l">
              <a:lnSpc>
                <a:spcPts val="11727"/>
              </a:lnSpc>
            </a:pPr>
            <a:r>
              <a:rPr lang="en-US" sz="8377">
                <a:solidFill>
                  <a:srgbClr val="EFBD27"/>
                </a:solidFill>
                <a:latin typeface="Anton"/>
                <a:ea typeface="Anton"/>
                <a:cs typeface="Anton"/>
                <a:sym typeface="Anton"/>
              </a:rPr>
              <a:t>KETERGANTUNGAN MENIT BERMAIN</a:t>
            </a:r>
          </a:p>
        </p:txBody>
      </p:sp>
      <p:sp>
        <p:nvSpPr>
          <p:cNvPr name="TextBox 18" id="18"/>
          <p:cNvSpPr txBox="true"/>
          <p:nvPr/>
        </p:nvSpPr>
        <p:spPr>
          <a:xfrm rot="0">
            <a:off x="9975298" y="4766310"/>
            <a:ext cx="6807681" cy="678180"/>
          </a:xfrm>
          <a:prstGeom prst="rect">
            <a:avLst/>
          </a:prstGeom>
        </p:spPr>
        <p:txBody>
          <a:bodyPr anchor="t" rtlCol="false" tIns="0" lIns="0" bIns="0" rIns="0">
            <a:spAutoFit/>
          </a:bodyPr>
          <a:lstStyle/>
          <a:p>
            <a:pPr algn="l">
              <a:lnSpc>
                <a:spcPts val="5159"/>
              </a:lnSpc>
            </a:pPr>
            <a:r>
              <a:rPr lang="en-US" sz="3999">
                <a:solidFill>
                  <a:srgbClr val="FFFFFF"/>
                </a:solidFill>
                <a:latin typeface="Poppins"/>
                <a:ea typeface="Poppins"/>
                <a:cs typeface="Poppins"/>
                <a:sym typeface="Poppins"/>
              </a:rPr>
              <a:t>Dominasi Usia 22–28</a:t>
            </a:r>
          </a:p>
        </p:txBody>
      </p:sp>
      <p:sp>
        <p:nvSpPr>
          <p:cNvPr name="TextBox 19" id="19"/>
          <p:cNvSpPr txBox="true"/>
          <p:nvPr/>
        </p:nvSpPr>
        <p:spPr>
          <a:xfrm rot="0">
            <a:off x="9975298" y="5717614"/>
            <a:ext cx="7073003" cy="2419350"/>
          </a:xfrm>
          <a:prstGeom prst="rect">
            <a:avLst/>
          </a:prstGeom>
        </p:spPr>
        <p:txBody>
          <a:bodyPr anchor="t" rtlCol="false" tIns="0" lIns="0" bIns="0" rIns="0">
            <a:spAutoFit/>
          </a:bodyPr>
          <a:lstStyle/>
          <a:p>
            <a:pPr algn="just">
              <a:lnSpc>
                <a:spcPts val="3224"/>
              </a:lnSpc>
            </a:pPr>
            <a:r>
              <a:rPr lang="en-US" sz="2499">
                <a:solidFill>
                  <a:srgbClr val="FFFFFF"/>
                </a:solidFill>
                <a:latin typeface="Poppins"/>
                <a:ea typeface="Poppins"/>
                <a:cs typeface="Poppins"/>
                <a:sym typeface="Poppins"/>
              </a:rPr>
              <a:t>Kelompok usia 22–28 tahun memegang 64% total menit bermain (483.469 menit).</a:t>
            </a:r>
          </a:p>
          <a:p>
            <a:pPr algn="just">
              <a:lnSpc>
                <a:spcPts val="3224"/>
              </a:lnSpc>
            </a:pPr>
          </a:p>
          <a:p>
            <a:pPr algn="just">
              <a:lnSpc>
                <a:spcPts val="3224"/>
              </a:lnSpc>
            </a:pPr>
            <a:r>
              <a:rPr lang="en-US" sz="2499">
                <a:solidFill>
                  <a:srgbClr val="FFFFFF"/>
                </a:solidFill>
                <a:latin typeface="Poppins"/>
                <a:ea typeface="Poppins"/>
                <a:cs typeface="Poppins"/>
                <a:sym typeface="Poppins"/>
              </a:rPr>
              <a:t>Pemain muda U-21 hanya mendapatkan 13% menit bermain, mengindikasikan risiko regenerasi pada beberapa klub.</a:t>
            </a:r>
          </a:p>
        </p:txBody>
      </p:sp>
      <p:sp>
        <p:nvSpPr>
          <p:cNvPr name="TextBox 20" id="20"/>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821343">
            <a:off x="-2561351" y="-1079678"/>
            <a:ext cx="7774164" cy="3830542"/>
          </a:xfrm>
          <a:custGeom>
            <a:avLst/>
            <a:gdLst/>
            <a:ahLst/>
            <a:cxnLst/>
            <a:rect r="r" b="b" t="t" l="l"/>
            <a:pathLst>
              <a:path h="3830542" w="7774164">
                <a:moveTo>
                  <a:pt x="7774163" y="0"/>
                </a:moveTo>
                <a:lnTo>
                  <a:pt x="0" y="0"/>
                </a:lnTo>
                <a:lnTo>
                  <a:pt x="0" y="3830542"/>
                </a:lnTo>
                <a:lnTo>
                  <a:pt x="7774163" y="3830542"/>
                </a:lnTo>
                <a:lnTo>
                  <a:pt x="7774163"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335099" y="7121986"/>
            <a:ext cx="2556825" cy="1549728"/>
            <a:chOff x="0" y="0"/>
            <a:chExt cx="1185364" cy="718466"/>
          </a:xfrm>
        </p:grpSpPr>
        <p:sp>
          <p:nvSpPr>
            <p:cNvPr name="Freeform 5" id="5"/>
            <p:cNvSpPr/>
            <p:nvPr/>
          </p:nvSpPr>
          <p:spPr>
            <a:xfrm flipH="false" flipV="false" rot="0">
              <a:off x="0" y="0"/>
              <a:ext cx="1185364" cy="718466"/>
            </a:xfrm>
            <a:custGeom>
              <a:avLst/>
              <a:gdLst/>
              <a:ahLst/>
              <a:cxnLst/>
              <a:rect r="r" b="b" t="t" l="l"/>
              <a:pathLst>
                <a:path h="718466" w="1185364">
                  <a:moveTo>
                    <a:pt x="982164" y="0"/>
                  </a:moveTo>
                  <a:lnTo>
                    <a:pt x="0" y="0"/>
                  </a:lnTo>
                  <a:lnTo>
                    <a:pt x="203200" y="718466"/>
                  </a:lnTo>
                  <a:lnTo>
                    <a:pt x="1185364" y="718466"/>
                  </a:lnTo>
                  <a:lnTo>
                    <a:pt x="982164" y="0"/>
                  </a:lnTo>
                  <a:close/>
                </a:path>
              </a:pathLst>
            </a:custGeom>
            <a:solidFill>
              <a:srgbClr val="EFBD27"/>
            </a:solidFill>
            <a:ln cap="sq">
              <a:noFill/>
              <a:prstDash val="solid"/>
              <a:miter/>
            </a:ln>
          </p:spPr>
        </p:sp>
        <p:sp>
          <p:nvSpPr>
            <p:cNvPr name="TextBox 6" id="6"/>
            <p:cNvSpPr txBox="true"/>
            <p:nvPr/>
          </p:nvSpPr>
          <p:spPr>
            <a:xfrm>
              <a:off x="101600" y="-38100"/>
              <a:ext cx="982164" cy="756566"/>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9144000" y="-167194"/>
            <a:ext cx="8894012" cy="8390490"/>
            <a:chOff x="0" y="0"/>
            <a:chExt cx="603052" cy="568911"/>
          </a:xfrm>
        </p:grpSpPr>
        <p:sp>
          <p:nvSpPr>
            <p:cNvPr name="Freeform 8" id="8"/>
            <p:cNvSpPr/>
            <p:nvPr/>
          </p:nvSpPr>
          <p:spPr>
            <a:xfrm flipH="false" flipV="false" rot="0">
              <a:off x="2827" y="0"/>
              <a:ext cx="597397" cy="568911"/>
            </a:xfrm>
            <a:custGeom>
              <a:avLst/>
              <a:gdLst/>
              <a:ahLst/>
              <a:cxnLst/>
              <a:rect r="r" b="b" t="t" l="l"/>
              <a:pathLst>
                <a:path h="568911" w="597397">
                  <a:moveTo>
                    <a:pt x="387450" y="0"/>
                  </a:moveTo>
                  <a:lnTo>
                    <a:pt x="6748" y="0"/>
                  </a:lnTo>
                  <a:cubicBezTo>
                    <a:pt x="4554" y="0"/>
                    <a:pt x="2497" y="1067"/>
                    <a:pt x="1232" y="2861"/>
                  </a:cubicBezTo>
                  <a:cubicBezTo>
                    <a:pt x="-32" y="4654"/>
                    <a:pt x="-344" y="6951"/>
                    <a:pt x="394" y="9017"/>
                  </a:cubicBezTo>
                  <a:lnTo>
                    <a:pt x="197152" y="559894"/>
                  </a:lnTo>
                  <a:cubicBezTo>
                    <a:pt x="199084" y="565302"/>
                    <a:pt x="204206" y="568911"/>
                    <a:pt x="209948" y="568911"/>
                  </a:cubicBezTo>
                  <a:lnTo>
                    <a:pt x="590650" y="568911"/>
                  </a:lnTo>
                  <a:cubicBezTo>
                    <a:pt x="592844" y="568911"/>
                    <a:pt x="594902" y="567844"/>
                    <a:pt x="596166" y="566050"/>
                  </a:cubicBezTo>
                  <a:cubicBezTo>
                    <a:pt x="597430" y="564257"/>
                    <a:pt x="597743" y="561960"/>
                    <a:pt x="597005" y="559894"/>
                  </a:cubicBezTo>
                  <a:lnTo>
                    <a:pt x="400246" y="9017"/>
                  </a:lnTo>
                  <a:cubicBezTo>
                    <a:pt x="398314" y="3610"/>
                    <a:pt x="393192" y="0"/>
                    <a:pt x="387450" y="0"/>
                  </a:cubicBezTo>
                  <a:close/>
                </a:path>
              </a:pathLst>
            </a:custGeom>
            <a:blipFill>
              <a:blip r:embed="rId6"/>
              <a:stretch>
                <a:fillRect l="-122" t="-15892" r="-122" b="-15892"/>
              </a:stretch>
            </a:blipFill>
          </p:spPr>
        </p:sp>
      </p:grpSp>
      <p:grpSp>
        <p:nvGrpSpPr>
          <p:cNvPr name="Group 9" id="9"/>
          <p:cNvGrpSpPr/>
          <p:nvPr/>
        </p:nvGrpSpPr>
        <p:grpSpPr>
          <a:xfrm rot="0">
            <a:off x="14629513" y="8758703"/>
            <a:ext cx="2153466" cy="581993"/>
            <a:chOff x="0" y="0"/>
            <a:chExt cx="669810" cy="181022"/>
          </a:xfrm>
        </p:grpSpPr>
        <p:sp>
          <p:nvSpPr>
            <p:cNvPr name="Freeform 10" id="10"/>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1" id="11"/>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5400000">
            <a:off x="16651125" y="1083811"/>
            <a:ext cx="1481097" cy="264746"/>
          </a:xfrm>
          <a:custGeom>
            <a:avLst/>
            <a:gdLst/>
            <a:ahLst/>
            <a:cxnLst/>
            <a:rect r="r" b="b" t="t" l="l"/>
            <a:pathLst>
              <a:path h="264746" w="1481097">
                <a:moveTo>
                  <a:pt x="0" y="0"/>
                </a:moveTo>
                <a:lnTo>
                  <a:pt x="1481096" y="0"/>
                </a:lnTo>
                <a:lnTo>
                  <a:pt x="1481096" y="264746"/>
                </a:lnTo>
                <a:lnTo>
                  <a:pt x="0" y="2647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10821696" y="9471065"/>
            <a:ext cx="1481097" cy="264746"/>
          </a:xfrm>
          <a:custGeom>
            <a:avLst/>
            <a:gdLst/>
            <a:ahLst/>
            <a:cxnLst/>
            <a:rect r="r" b="b" t="t" l="l"/>
            <a:pathLst>
              <a:path h="264746" w="1481097">
                <a:moveTo>
                  <a:pt x="0" y="0"/>
                </a:moveTo>
                <a:lnTo>
                  <a:pt x="1481097" y="0"/>
                </a:lnTo>
                <a:lnTo>
                  <a:pt x="1481097" y="264746"/>
                </a:lnTo>
                <a:lnTo>
                  <a:pt x="0" y="2647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656864" y="8286914"/>
            <a:ext cx="9142541" cy="1120533"/>
            <a:chOff x="0" y="0"/>
            <a:chExt cx="2407912" cy="295120"/>
          </a:xfrm>
        </p:grpSpPr>
        <p:sp>
          <p:nvSpPr>
            <p:cNvPr name="Freeform 16" id="16"/>
            <p:cNvSpPr/>
            <p:nvPr/>
          </p:nvSpPr>
          <p:spPr>
            <a:xfrm flipH="false" flipV="false" rot="0">
              <a:off x="0" y="0"/>
              <a:ext cx="2407912" cy="295120"/>
            </a:xfrm>
            <a:custGeom>
              <a:avLst/>
              <a:gdLst/>
              <a:ahLst/>
              <a:cxnLst/>
              <a:rect r="r" b="b" t="t" l="l"/>
              <a:pathLst>
                <a:path h="295120" w="2407912">
                  <a:moveTo>
                    <a:pt x="0" y="0"/>
                  </a:moveTo>
                  <a:lnTo>
                    <a:pt x="2407912" y="0"/>
                  </a:lnTo>
                  <a:lnTo>
                    <a:pt x="2407912" y="295120"/>
                  </a:lnTo>
                  <a:lnTo>
                    <a:pt x="0" y="295120"/>
                  </a:lnTo>
                  <a:close/>
                </a:path>
              </a:pathLst>
            </a:custGeom>
            <a:solidFill>
              <a:srgbClr val="EFBD27"/>
            </a:solidFill>
          </p:spPr>
        </p:sp>
        <p:sp>
          <p:nvSpPr>
            <p:cNvPr name="TextBox 17" id="17"/>
            <p:cNvSpPr txBox="true"/>
            <p:nvPr/>
          </p:nvSpPr>
          <p:spPr>
            <a:xfrm>
              <a:off x="0" y="-38100"/>
              <a:ext cx="2407912" cy="33322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729694" y="3379348"/>
            <a:ext cx="9069712" cy="4648227"/>
          </a:xfrm>
          <a:custGeom>
            <a:avLst/>
            <a:gdLst/>
            <a:ahLst/>
            <a:cxnLst/>
            <a:rect r="r" b="b" t="t" l="l"/>
            <a:pathLst>
              <a:path h="4648227" w="9069712">
                <a:moveTo>
                  <a:pt x="0" y="0"/>
                </a:moveTo>
                <a:lnTo>
                  <a:pt x="9069711" y="0"/>
                </a:lnTo>
                <a:lnTo>
                  <a:pt x="9069711" y="4648227"/>
                </a:lnTo>
                <a:lnTo>
                  <a:pt x="0" y="4648227"/>
                </a:lnTo>
                <a:lnTo>
                  <a:pt x="0" y="0"/>
                </a:lnTo>
                <a:close/>
              </a:path>
            </a:pathLst>
          </a:custGeom>
          <a:blipFill>
            <a:blip r:embed="rId11"/>
            <a:stretch>
              <a:fillRect l="0" t="0" r="0" b="0"/>
            </a:stretch>
          </a:blipFill>
        </p:spPr>
      </p:sp>
      <p:sp>
        <p:nvSpPr>
          <p:cNvPr name="TextBox 19" id="19"/>
          <p:cNvSpPr txBox="true"/>
          <p:nvPr/>
        </p:nvSpPr>
        <p:spPr>
          <a:xfrm rot="0">
            <a:off x="729694" y="323236"/>
            <a:ext cx="8515632" cy="2801876"/>
          </a:xfrm>
          <a:prstGeom prst="rect">
            <a:avLst/>
          </a:prstGeom>
        </p:spPr>
        <p:txBody>
          <a:bodyPr anchor="t" rtlCol="false" tIns="0" lIns="0" bIns="0" rIns="0">
            <a:spAutoFit/>
          </a:bodyPr>
          <a:lstStyle/>
          <a:p>
            <a:pPr algn="l">
              <a:lnSpc>
                <a:spcPts val="11258"/>
              </a:lnSpc>
            </a:pPr>
            <a:r>
              <a:rPr lang="en-US" sz="8041">
                <a:solidFill>
                  <a:srgbClr val="EFBD27"/>
                </a:solidFill>
                <a:latin typeface="Anton"/>
                <a:ea typeface="Anton"/>
                <a:cs typeface="Anton"/>
                <a:sym typeface="Anton"/>
              </a:rPr>
              <a:t>RASIO KEDISIPLINAN PEMAIN</a:t>
            </a:r>
          </a:p>
        </p:txBody>
      </p:sp>
      <p:sp>
        <p:nvSpPr>
          <p:cNvPr name="TextBox 20" id="20"/>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TextBox 21" id="21"/>
          <p:cNvSpPr txBox="true"/>
          <p:nvPr/>
        </p:nvSpPr>
        <p:spPr>
          <a:xfrm rot="0">
            <a:off x="946515" y="8413793"/>
            <a:ext cx="8508510" cy="819150"/>
          </a:xfrm>
          <a:prstGeom prst="rect">
            <a:avLst/>
          </a:prstGeom>
        </p:spPr>
        <p:txBody>
          <a:bodyPr anchor="t" rtlCol="false" tIns="0" lIns="0" bIns="0" rIns="0">
            <a:spAutoFit/>
          </a:bodyPr>
          <a:lstStyle/>
          <a:p>
            <a:pPr algn="just">
              <a:lnSpc>
                <a:spcPts val="3224"/>
              </a:lnSpc>
            </a:pPr>
            <a:r>
              <a:rPr lang="en-US" b="true" sz="2499" i="true">
                <a:solidFill>
                  <a:srgbClr val="003A46"/>
                </a:solidFill>
                <a:latin typeface="Poppins Bold Italics"/>
                <a:ea typeface="Poppins Bold Italics"/>
                <a:cs typeface="Poppins Bold Italics"/>
                <a:sym typeface="Poppins Bold Italics"/>
              </a:rPr>
              <a:t>SAMUEL AMO-AMEYAW MEMILIKI RASIO KEDISIPLINAN TERTINGGI DENGAN ANGKA 0,33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3674565" y="4277801"/>
            <a:ext cx="2647295" cy="1503630"/>
            <a:chOff x="0" y="0"/>
            <a:chExt cx="1050498" cy="596670"/>
          </a:xfrm>
        </p:grpSpPr>
        <p:sp>
          <p:nvSpPr>
            <p:cNvPr name="Freeform 3" id="3"/>
            <p:cNvSpPr/>
            <p:nvPr/>
          </p:nvSpPr>
          <p:spPr>
            <a:xfrm flipH="false" flipV="false" rot="0">
              <a:off x="0" y="0"/>
              <a:ext cx="1050498" cy="596670"/>
            </a:xfrm>
            <a:custGeom>
              <a:avLst/>
              <a:gdLst/>
              <a:ahLst/>
              <a:cxnLst/>
              <a:rect r="r" b="b" t="t" l="l"/>
              <a:pathLst>
                <a:path h="596670" w="1050498">
                  <a:moveTo>
                    <a:pt x="847298" y="0"/>
                  </a:moveTo>
                  <a:lnTo>
                    <a:pt x="0" y="0"/>
                  </a:lnTo>
                  <a:lnTo>
                    <a:pt x="203200" y="596670"/>
                  </a:lnTo>
                  <a:lnTo>
                    <a:pt x="1050498" y="596670"/>
                  </a:lnTo>
                  <a:lnTo>
                    <a:pt x="847298" y="0"/>
                  </a:lnTo>
                  <a:close/>
                </a:path>
              </a:pathLst>
            </a:custGeom>
            <a:solidFill>
              <a:srgbClr val="EFBD27"/>
            </a:solidFill>
            <a:ln cap="sq">
              <a:noFill/>
              <a:prstDash val="solid"/>
              <a:miter/>
            </a:ln>
          </p:spPr>
        </p:sp>
        <p:sp>
          <p:nvSpPr>
            <p:cNvPr name="TextBox 4" id="4"/>
            <p:cNvSpPr txBox="true"/>
            <p:nvPr/>
          </p:nvSpPr>
          <p:spPr>
            <a:xfrm>
              <a:off x="101600" y="-38100"/>
              <a:ext cx="847298" cy="6347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0" y="4825140"/>
            <a:ext cx="7349131" cy="5461860"/>
            <a:chOff x="0" y="0"/>
            <a:chExt cx="750237" cy="557575"/>
          </a:xfrm>
        </p:grpSpPr>
        <p:sp>
          <p:nvSpPr>
            <p:cNvPr name="Freeform 7" id="7"/>
            <p:cNvSpPr/>
            <p:nvPr/>
          </p:nvSpPr>
          <p:spPr>
            <a:xfrm flipH="false" flipV="false" rot="0">
              <a:off x="6639" y="0"/>
              <a:ext cx="736960" cy="557575"/>
            </a:xfrm>
            <a:custGeom>
              <a:avLst/>
              <a:gdLst/>
              <a:ahLst/>
              <a:cxnLst/>
              <a:rect r="r" b="b" t="t" l="l"/>
              <a:pathLst>
                <a:path h="557575" w="736960">
                  <a:moveTo>
                    <a:pt x="518276" y="0"/>
                  </a:moveTo>
                  <a:lnTo>
                    <a:pt x="15483" y="0"/>
                  </a:lnTo>
                  <a:cubicBezTo>
                    <a:pt x="10431" y="0"/>
                    <a:pt x="5696" y="2465"/>
                    <a:pt x="2798" y="6605"/>
                  </a:cubicBezTo>
                  <a:cubicBezTo>
                    <a:pt x="-99" y="10745"/>
                    <a:pt x="-794" y="16038"/>
                    <a:pt x="936" y="20785"/>
                  </a:cubicBezTo>
                  <a:lnTo>
                    <a:pt x="188986" y="536790"/>
                  </a:lnTo>
                  <a:cubicBezTo>
                    <a:pt x="193534" y="549270"/>
                    <a:pt x="205400" y="557575"/>
                    <a:pt x="218683" y="557575"/>
                  </a:cubicBezTo>
                  <a:lnTo>
                    <a:pt x="721476" y="557575"/>
                  </a:lnTo>
                  <a:cubicBezTo>
                    <a:pt x="726529" y="557575"/>
                    <a:pt x="731264" y="555109"/>
                    <a:pt x="734161" y="550970"/>
                  </a:cubicBezTo>
                  <a:cubicBezTo>
                    <a:pt x="737058" y="546830"/>
                    <a:pt x="737753" y="541537"/>
                    <a:pt x="736023" y="536790"/>
                  </a:cubicBezTo>
                  <a:lnTo>
                    <a:pt x="547973" y="20785"/>
                  </a:lnTo>
                  <a:cubicBezTo>
                    <a:pt x="543425" y="8305"/>
                    <a:pt x="531559" y="0"/>
                    <a:pt x="518276" y="0"/>
                  </a:cubicBezTo>
                  <a:close/>
                </a:path>
              </a:pathLst>
            </a:custGeom>
            <a:blipFill>
              <a:blip r:embed="rId4"/>
              <a:stretch>
                <a:fillRect l="-17230" t="0" r="-17230" b="0"/>
              </a:stretch>
            </a:blipFill>
          </p:spPr>
        </p:sp>
      </p:grpSp>
      <p:grpSp>
        <p:nvGrpSpPr>
          <p:cNvPr name="Group 8" id="8"/>
          <p:cNvGrpSpPr/>
          <p:nvPr/>
        </p:nvGrpSpPr>
        <p:grpSpPr>
          <a:xfrm rot="0">
            <a:off x="-1086922" y="7556070"/>
            <a:ext cx="3836093" cy="2241066"/>
            <a:chOff x="0" y="0"/>
            <a:chExt cx="995110" cy="581349"/>
          </a:xfrm>
        </p:grpSpPr>
        <p:sp>
          <p:nvSpPr>
            <p:cNvPr name="Freeform 9" id="9"/>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10" id="10"/>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5466997" y="1575433"/>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4629513" y="8863478"/>
            <a:ext cx="2153466" cy="581993"/>
            <a:chOff x="0" y="0"/>
            <a:chExt cx="669810" cy="181022"/>
          </a:xfrm>
        </p:grpSpPr>
        <p:sp>
          <p:nvSpPr>
            <p:cNvPr name="Freeform 13" id="13"/>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4" id="14"/>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6052162" y="8997850"/>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6662203" y="2767522"/>
            <a:ext cx="11301259" cy="4115237"/>
            <a:chOff x="0" y="0"/>
            <a:chExt cx="4533088" cy="1650677"/>
          </a:xfrm>
        </p:grpSpPr>
        <p:sp>
          <p:nvSpPr>
            <p:cNvPr name="Freeform 17" id="17"/>
            <p:cNvSpPr/>
            <p:nvPr/>
          </p:nvSpPr>
          <p:spPr>
            <a:xfrm flipH="false" flipV="false" rot="0">
              <a:off x="23508" y="-303"/>
              <a:ext cx="4525129" cy="1653300"/>
            </a:xfrm>
            <a:custGeom>
              <a:avLst/>
              <a:gdLst/>
              <a:ahLst/>
              <a:cxnLst/>
              <a:rect r="r" b="b" t="t" l="l"/>
              <a:pathLst>
                <a:path h="1653300" w="4525129">
                  <a:moveTo>
                    <a:pt x="4503623" y="626903"/>
                  </a:moveTo>
                  <a:cubicBezTo>
                    <a:pt x="4501637" y="489430"/>
                    <a:pt x="4485753" y="323067"/>
                    <a:pt x="4485753" y="173639"/>
                  </a:cubicBezTo>
                  <a:cubicBezTo>
                    <a:pt x="4485753" y="132796"/>
                    <a:pt x="4483767" y="51108"/>
                    <a:pt x="4473840" y="10265"/>
                  </a:cubicBezTo>
                  <a:cubicBezTo>
                    <a:pt x="4235569" y="10265"/>
                    <a:pt x="3979429" y="303"/>
                    <a:pt x="3739173" y="303"/>
                  </a:cubicBezTo>
                  <a:cubicBezTo>
                    <a:pt x="2490241" y="2295"/>
                    <a:pt x="1253223" y="-967"/>
                    <a:pt x="6276" y="303"/>
                  </a:cubicBezTo>
                  <a:cubicBezTo>
                    <a:pt x="6276" y="133792"/>
                    <a:pt x="-1667" y="282223"/>
                    <a:pt x="319" y="415712"/>
                  </a:cubicBezTo>
                  <a:cubicBezTo>
                    <a:pt x="4290" y="664758"/>
                    <a:pt x="10247" y="914800"/>
                    <a:pt x="10247" y="1163846"/>
                  </a:cubicBezTo>
                  <a:cubicBezTo>
                    <a:pt x="10247" y="1284385"/>
                    <a:pt x="8261" y="1403927"/>
                    <a:pt x="20175" y="1524465"/>
                  </a:cubicBezTo>
                  <a:cubicBezTo>
                    <a:pt x="24146" y="1563316"/>
                    <a:pt x="28117" y="1601171"/>
                    <a:pt x="36060" y="1640022"/>
                  </a:cubicBezTo>
                  <a:cubicBezTo>
                    <a:pt x="298157" y="1642015"/>
                    <a:pt x="558268" y="1645003"/>
                    <a:pt x="820365" y="1648988"/>
                  </a:cubicBezTo>
                  <a:cubicBezTo>
                    <a:pt x="1517305" y="1661140"/>
                    <a:pt x="2194389" y="1643011"/>
                    <a:pt x="2913171" y="1649984"/>
                  </a:cubicBezTo>
                  <a:cubicBezTo>
                    <a:pt x="3455235" y="1656060"/>
                    <a:pt x="3987371" y="1640022"/>
                    <a:pt x="4522280" y="1640022"/>
                  </a:cubicBezTo>
                  <a:cubicBezTo>
                    <a:pt x="4522280" y="1627072"/>
                    <a:pt x="4523550" y="1551362"/>
                    <a:pt x="4524820" y="1538412"/>
                  </a:cubicBezTo>
                  <a:cubicBezTo>
                    <a:pt x="4527360" y="1460709"/>
                    <a:pt x="4513390" y="1315266"/>
                    <a:pt x="4514660" y="1237564"/>
                  </a:cubicBezTo>
                  <a:cubicBezTo>
                    <a:pt x="4521010" y="917789"/>
                    <a:pt x="4507594" y="902846"/>
                    <a:pt x="4503623" y="626903"/>
                  </a:cubicBezTo>
                  <a:close/>
                </a:path>
              </a:pathLst>
            </a:custGeom>
            <a:blipFill>
              <a:blip r:embed="rId9"/>
              <a:stretch>
                <a:fillRect l="-519" t="-25885" r="-530" b="-25885"/>
              </a:stretch>
            </a:blipFill>
          </p:spPr>
        </p:sp>
      </p:grpSp>
      <p:grpSp>
        <p:nvGrpSpPr>
          <p:cNvPr name="Group 18" id="18"/>
          <p:cNvGrpSpPr/>
          <p:nvPr/>
        </p:nvGrpSpPr>
        <p:grpSpPr>
          <a:xfrm rot="0">
            <a:off x="6814603" y="7139934"/>
            <a:ext cx="11148859" cy="1536669"/>
            <a:chOff x="0" y="0"/>
            <a:chExt cx="2936325" cy="404719"/>
          </a:xfrm>
        </p:grpSpPr>
        <p:sp>
          <p:nvSpPr>
            <p:cNvPr name="Freeform 19" id="19"/>
            <p:cNvSpPr/>
            <p:nvPr/>
          </p:nvSpPr>
          <p:spPr>
            <a:xfrm flipH="false" flipV="false" rot="0">
              <a:off x="0" y="0"/>
              <a:ext cx="2936325" cy="404719"/>
            </a:xfrm>
            <a:custGeom>
              <a:avLst/>
              <a:gdLst/>
              <a:ahLst/>
              <a:cxnLst/>
              <a:rect r="r" b="b" t="t" l="l"/>
              <a:pathLst>
                <a:path h="404719" w="2936325">
                  <a:moveTo>
                    <a:pt x="0" y="0"/>
                  </a:moveTo>
                  <a:lnTo>
                    <a:pt x="2936325" y="0"/>
                  </a:lnTo>
                  <a:lnTo>
                    <a:pt x="2936325" y="404719"/>
                  </a:lnTo>
                  <a:lnTo>
                    <a:pt x="0" y="404719"/>
                  </a:lnTo>
                  <a:close/>
                </a:path>
              </a:pathLst>
            </a:custGeom>
            <a:solidFill>
              <a:srgbClr val="EFBD27"/>
            </a:solidFill>
          </p:spPr>
        </p:sp>
        <p:sp>
          <p:nvSpPr>
            <p:cNvPr name="TextBox 20" id="20"/>
            <p:cNvSpPr txBox="true"/>
            <p:nvPr/>
          </p:nvSpPr>
          <p:spPr>
            <a:xfrm>
              <a:off x="0" y="-38100"/>
              <a:ext cx="2936325" cy="442819"/>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257652" y="1131159"/>
            <a:ext cx="12704226" cy="1376896"/>
          </a:xfrm>
          <a:prstGeom prst="rect">
            <a:avLst/>
          </a:prstGeom>
        </p:spPr>
        <p:txBody>
          <a:bodyPr anchor="t" rtlCol="false" tIns="0" lIns="0" bIns="0" rIns="0">
            <a:spAutoFit/>
          </a:bodyPr>
          <a:lstStyle/>
          <a:p>
            <a:pPr algn="l">
              <a:lnSpc>
                <a:spcPts val="11258"/>
              </a:lnSpc>
            </a:pPr>
            <a:r>
              <a:rPr lang="en-US" sz="8041">
                <a:solidFill>
                  <a:srgbClr val="EFBD27"/>
                </a:solidFill>
                <a:latin typeface="Anton"/>
                <a:ea typeface="Anton"/>
                <a:cs typeface="Anton"/>
                <a:sym typeface="Anton"/>
              </a:rPr>
              <a:t>ANALISIS GOL: PK VS OPEN PLAY</a:t>
            </a:r>
          </a:p>
        </p:txBody>
      </p:sp>
      <p:sp>
        <p:nvSpPr>
          <p:cNvPr name="TextBox 22" id="22"/>
          <p:cNvSpPr txBox="true"/>
          <p:nvPr/>
        </p:nvSpPr>
        <p:spPr>
          <a:xfrm rot="0">
            <a:off x="15030380" y="9035950"/>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TextBox 23" id="23"/>
          <p:cNvSpPr txBox="true"/>
          <p:nvPr/>
        </p:nvSpPr>
        <p:spPr>
          <a:xfrm rot="0">
            <a:off x="7146686" y="7266813"/>
            <a:ext cx="10599993" cy="1219200"/>
          </a:xfrm>
          <a:prstGeom prst="rect">
            <a:avLst/>
          </a:prstGeom>
        </p:spPr>
        <p:txBody>
          <a:bodyPr anchor="t" rtlCol="false" tIns="0" lIns="0" bIns="0" rIns="0">
            <a:spAutoFit/>
          </a:bodyPr>
          <a:lstStyle/>
          <a:p>
            <a:pPr algn="just">
              <a:lnSpc>
                <a:spcPts val="3224"/>
              </a:lnSpc>
            </a:pPr>
            <a:r>
              <a:rPr lang="en-US" b="true" sz="2499" i="true">
                <a:solidFill>
                  <a:srgbClr val="003A46"/>
                </a:solidFill>
                <a:latin typeface="Poppins Bold Italics"/>
                <a:ea typeface="Poppins Bold Italics"/>
                <a:cs typeface="Poppins Bold Italics"/>
                <a:sym typeface="Poppins Bold Italics"/>
              </a:rPr>
              <a:t>JUSTIN KLUIVERT SANGAT BERGANTUNG PADA PENALTI (50%), SEDANGKAN MATHEUS CUNHA MENCETAK SEMUA GOLNYA DARI PERMAINAN TERBUKA.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4290094">
            <a:off x="9722324" y="-501225"/>
            <a:ext cx="10253827" cy="5457196"/>
            <a:chOff x="0" y="0"/>
            <a:chExt cx="1854593" cy="987034"/>
          </a:xfrm>
        </p:grpSpPr>
        <p:sp>
          <p:nvSpPr>
            <p:cNvPr name="Freeform 3" id="3"/>
            <p:cNvSpPr/>
            <p:nvPr/>
          </p:nvSpPr>
          <p:spPr>
            <a:xfrm flipH="false" flipV="false" rot="0">
              <a:off x="0" y="0"/>
              <a:ext cx="1854593" cy="987034"/>
            </a:xfrm>
            <a:custGeom>
              <a:avLst/>
              <a:gdLst/>
              <a:ahLst/>
              <a:cxnLst/>
              <a:rect r="r" b="b" t="t" l="l"/>
              <a:pathLst>
                <a:path h="987034" w="1854593">
                  <a:moveTo>
                    <a:pt x="1651393" y="0"/>
                  </a:moveTo>
                  <a:lnTo>
                    <a:pt x="0" y="0"/>
                  </a:lnTo>
                  <a:lnTo>
                    <a:pt x="203200" y="987034"/>
                  </a:lnTo>
                  <a:lnTo>
                    <a:pt x="1854593" y="987034"/>
                  </a:lnTo>
                  <a:lnTo>
                    <a:pt x="1651393" y="0"/>
                  </a:lnTo>
                  <a:close/>
                </a:path>
              </a:pathLst>
            </a:custGeom>
            <a:solidFill>
              <a:srgbClr val="EFBD27"/>
            </a:solidFill>
          </p:spPr>
        </p:sp>
        <p:sp>
          <p:nvSpPr>
            <p:cNvPr name="TextBox 4" id="4"/>
            <p:cNvSpPr txBox="true"/>
            <p:nvPr/>
          </p:nvSpPr>
          <p:spPr>
            <a:xfrm>
              <a:off x="101600" y="-38100"/>
              <a:ext cx="1651393" cy="102513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4290094">
            <a:off x="10658294" y="7467254"/>
            <a:ext cx="3911271" cy="4864687"/>
            <a:chOff x="0" y="0"/>
            <a:chExt cx="490126" cy="609600"/>
          </a:xfrm>
        </p:grpSpPr>
        <p:sp>
          <p:nvSpPr>
            <p:cNvPr name="Freeform 6" id="6"/>
            <p:cNvSpPr/>
            <p:nvPr/>
          </p:nvSpPr>
          <p:spPr>
            <a:xfrm flipH="false" flipV="false" rot="0">
              <a:off x="0" y="0"/>
              <a:ext cx="490126" cy="609600"/>
            </a:xfrm>
            <a:custGeom>
              <a:avLst/>
              <a:gdLst/>
              <a:ahLst/>
              <a:cxnLst/>
              <a:rect r="r" b="b" t="t" l="l"/>
              <a:pathLst>
                <a:path h="609600" w="490126">
                  <a:moveTo>
                    <a:pt x="286926" y="0"/>
                  </a:moveTo>
                  <a:lnTo>
                    <a:pt x="0" y="0"/>
                  </a:lnTo>
                  <a:lnTo>
                    <a:pt x="203200" y="609600"/>
                  </a:lnTo>
                  <a:lnTo>
                    <a:pt x="490126" y="609600"/>
                  </a:lnTo>
                  <a:lnTo>
                    <a:pt x="286926" y="0"/>
                  </a:lnTo>
                  <a:close/>
                </a:path>
              </a:pathLst>
            </a:custGeom>
            <a:solidFill>
              <a:srgbClr val="EFBD27"/>
            </a:solidFill>
          </p:spPr>
        </p:sp>
        <p:sp>
          <p:nvSpPr>
            <p:cNvPr name="TextBox 7" id="7"/>
            <p:cNvSpPr txBox="true"/>
            <p:nvPr/>
          </p:nvSpPr>
          <p:spPr>
            <a:xfrm>
              <a:off x="101600" y="-38100"/>
              <a:ext cx="286926" cy="6477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16865445" y="8672602"/>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7532407" y="740628"/>
            <a:ext cx="1611593" cy="288072"/>
          </a:xfrm>
          <a:custGeom>
            <a:avLst/>
            <a:gdLst/>
            <a:ahLst/>
            <a:cxnLst/>
            <a:rect r="r" b="b" t="t" l="l"/>
            <a:pathLst>
              <a:path h="288072" w="1611593">
                <a:moveTo>
                  <a:pt x="0" y="0"/>
                </a:moveTo>
                <a:lnTo>
                  <a:pt x="1611593" y="0"/>
                </a:lnTo>
                <a:lnTo>
                  <a:pt x="1611593" y="288072"/>
                </a:lnTo>
                <a:lnTo>
                  <a:pt x="0" y="288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478408" y="1812762"/>
            <a:ext cx="5053999" cy="1376934"/>
          </a:xfrm>
          <a:prstGeom prst="rect">
            <a:avLst/>
          </a:prstGeom>
        </p:spPr>
        <p:txBody>
          <a:bodyPr anchor="t" rtlCol="false" tIns="0" lIns="0" bIns="0" rIns="0">
            <a:spAutoFit/>
          </a:bodyPr>
          <a:lstStyle/>
          <a:p>
            <a:pPr algn="l">
              <a:lnSpc>
                <a:spcPts val="11256"/>
              </a:lnSpc>
            </a:pPr>
            <a:r>
              <a:rPr lang="en-US" sz="8040">
                <a:solidFill>
                  <a:srgbClr val="EFBD27"/>
                </a:solidFill>
                <a:latin typeface="Anton"/>
                <a:ea typeface="Anton"/>
                <a:cs typeface="Anton"/>
                <a:sym typeface="Anton"/>
              </a:rPr>
              <a:t>ASAL NEGARA</a:t>
            </a:r>
          </a:p>
        </p:txBody>
      </p:sp>
      <p:sp>
        <p:nvSpPr>
          <p:cNvPr name="TextBox 11" id="11"/>
          <p:cNvSpPr txBox="true"/>
          <p:nvPr/>
        </p:nvSpPr>
        <p:spPr>
          <a:xfrm rot="0">
            <a:off x="1433696" y="4431584"/>
            <a:ext cx="6098710" cy="4871085"/>
          </a:xfrm>
          <a:prstGeom prst="rect">
            <a:avLst/>
          </a:prstGeom>
        </p:spPr>
        <p:txBody>
          <a:bodyPr anchor="t" rtlCol="false" tIns="0" lIns="0" bIns="0" rIns="0">
            <a:spAutoFit/>
          </a:bodyPr>
          <a:lstStyle/>
          <a:p>
            <a:pPr algn="just" marL="647700" indent="-323850" lvl="1">
              <a:lnSpc>
                <a:spcPts val="3870"/>
              </a:lnSpc>
              <a:buFont typeface="Arial"/>
              <a:buChar char="•"/>
            </a:pPr>
            <a:r>
              <a:rPr lang="en-US" sz="3000">
                <a:solidFill>
                  <a:srgbClr val="4A7FF7"/>
                </a:solidFill>
                <a:latin typeface="Poppins"/>
                <a:ea typeface="Poppins"/>
                <a:cs typeface="Poppins"/>
                <a:sym typeface="Poppins"/>
              </a:rPr>
              <a:t>Inggris: 51% (194 Pemain)</a:t>
            </a:r>
          </a:p>
          <a:p>
            <a:pPr algn="just" marL="647700" indent="-323850" lvl="1">
              <a:lnSpc>
                <a:spcPts val="3870"/>
              </a:lnSpc>
              <a:buFont typeface="Arial"/>
              <a:buChar char="•"/>
            </a:pPr>
            <a:r>
              <a:rPr lang="en-US" sz="3000">
                <a:solidFill>
                  <a:srgbClr val="AE8DF5"/>
                </a:solidFill>
                <a:latin typeface="Poppins"/>
                <a:ea typeface="Poppins"/>
                <a:cs typeface="Poppins"/>
                <a:sym typeface="Poppins"/>
              </a:rPr>
              <a:t>Brazil: 9%</a:t>
            </a:r>
          </a:p>
          <a:p>
            <a:pPr algn="just" marL="647700" indent="-323850" lvl="1">
              <a:lnSpc>
                <a:spcPts val="3870"/>
              </a:lnSpc>
              <a:buFont typeface="Arial"/>
              <a:buChar char="•"/>
            </a:pPr>
            <a:r>
              <a:rPr lang="en-US" sz="3000">
                <a:solidFill>
                  <a:srgbClr val="F3B86B"/>
                </a:solidFill>
                <a:latin typeface="Poppins"/>
                <a:ea typeface="Poppins"/>
                <a:cs typeface="Poppins"/>
                <a:sym typeface="Poppins"/>
              </a:rPr>
              <a:t>Prancis: 7%</a:t>
            </a:r>
          </a:p>
          <a:p>
            <a:pPr algn="just" marL="647700" indent="-323850" lvl="1">
              <a:lnSpc>
                <a:spcPts val="3870"/>
              </a:lnSpc>
              <a:buFont typeface="Arial"/>
              <a:buChar char="•"/>
            </a:pPr>
            <a:r>
              <a:rPr lang="en-US" sz="3000">
                <a:solidFill>
                  <a:srgbClr val="FFDE59"/>
                </a:solidFill>
                <a:latin typeface="Poppins"/>
                <a:ea typeface="Poppins"/>
                <a:cs typeface="Poppins"/>
                <a:sym typeface="Poppins"/>
              </a:rPr>
              <a:t>Portugal: 6%</a:t>
            </a:r>
          </a:p>
          <a:p>
            <a:pPr algn="just" marL="647700" indent="-323850" lvl="1">
              <a:lnSpc>
                <a:spcPts val="3870"/>
              </a:lnSpc>
              <a:buFont typeface="Arial"/>
              <a:buChar char="•"/>
            </a:pPr>
            <a:r>
              <a:rPr lang="en-US" sz="3000">
                <a:solidFill>
                  <a:srgbClr val="EF737C"/>
                </a:solidFill>
                <a:latin typeface="Poppins"/>
                <a:ea typeface="Poppins"/>
                <a:cs typeface="Poppins"/>
                <a:sym typeface="Poppins"/>
              </a:rPr>
              <a:t>Belanda 6%</a:t>
            </a:r>
          </a:p>
          <a:p>
            <a:pPr algn="just" marL="647700" indent="-323850" lvl="1">
              <a:lnSpc>
                <a:spcPts val="3870"/>
              </a:lnSpc>
              <a:buFont typeface="Arial"/>
              <a:buChar char="•"/>
            </a:pPr>
            <a:r>
              <a:rPr lang="en-US" sz="3000">
                <a:solidFill>
                  <a:srgbClr val="E978C4"/>
                </a:solidFill>
                <a:latin typeface="Poppins"/>
                <a:ea typeface="Poppins"/>
                <a:cs typeface="Poppins"/>
                <a:sym typeface="Poppins"/>
              </a:rPr>
              <a:t>Denmark: 5%</a:t>
            </a:r>
          </a:p>
          <a:p>
            <a:pPr algn="just" marL="647700" indent="-323850" lvl="1">
              <a:lnSpc>
                <a:spcPts val="3870"/>
              </a:lnSpc>
              <a:buFont typeface="Arial"/>
              <a:buChar char="•"/>
            </a:pPr>
            <a:r>
              <a:rPr lang="en-US" sz="3000">
                <a:solidFill>
                  <a:srgbClr val="5CD4D3"/>
                </a:solidFill>
                <a:latin typeface="Poppins"/>
                <a:ea typeface="Poppins"/>
                <a:cs typeface="Poppins"/>
                <a:sym typeface="Poppins"/>
              </a:rPr>
              <a:t>Spanyol: 5%</a:t>
            </a:r>
          </a:p>
          <a:p>
            <a:pPr algn="just" marL="647700" indent="-323850" lvl="1">
              <a:lnSpc>
                <a:spcPts val="3870"/>
              </a:lnSpc>
              <a:buFont typeface="Arial"/>
              <a:buChar char="•"/>
            </a:pPr>
            <a:r>
              <a:rPr lang="en-US" sz="3000">
                <a:solidFill>
                  <a:srgbClr val="61C882"/>
                </a:solidFill>
                <a:latin typeface="Poppins"/>
                <a:ea typeface="Poppins"/>
                <a:cs typeface="Poppins"/>
                <a:sym typeface="Poppins"/>
              </a:rPr>
              <a:t>Ireland: 4%</a:t>
            </a:r>
          </a:p>
          <a:p>
            <a:pPr algn="just" marL="647700" indent="-323850" lvl="1">
              <a:lnSpc>
                <a:spcPts val="3870"/>
              </a:lnSpc>
              <a:buFont typeface="Arial"/>
              <a:buChar char="•"/>
            </a:pPr>
            <a:r>
              <a:rPr lang="en-US" sz="3000">
                <a:solidFill>
                  <a:srgbClr val="7BAC45"/>
                </a:solidFill>
                <a:latin typeface="Poppins"/>
                <a:ea typeface="Poppins"/>
                <a:cs typeface="Poppins"/>
                <a:sym typeface="Poppins"/>
              </a:rPr>
              <a:t>Argentina: 4%</a:t>
            </a:r>
          </a:p>
          <a:p>
            <a:pPr algn="just" marL="647700" indent="-323850" lvl="1">
              <a:lnSpc>
                <a:spcPts val="3870"/>
              </a:lnSpc>
              <a:buFont typeface="Arial"/>
              <a:buChar char="•"/>
            </a:pPr>
            <a:r>
              <a:rPr lang="en-US" sz="3000">
                <a:solidFill>
                  <a:srgbClr val="959505"/>
                </a:solidFill>
                <a:latin typeface="Poppins"/>
                <a:ea typeface="Poppins"/>
                <a:cs typeface="Poppins"/>
                <a:sym typeface="Poppins"/>
              </a:rPr>
              <a:t>Scotlandia: 3%</a:t>
            </a:r>
          </a:p>
        </p:txBody>
      </p:sp>
      <p:grpSp>
        <p:nvGrpSpPr>
          <p:cNvPr name="Group 12" id="12"/>
          <p:cNvGrpSpPr/>
          <p:nvPr/>
        </p:nvGrpSpPr>
        <p:grpSpPr>
          <a:xfrm rot="0">
            <a:off x="8922773" y="1684558"/>
            <a:ext cx="8395646" cy="7707526"/>
            <a:chOff x="0" y="0"/>
            <a:chExt cx="1608527" cy="1476690"/>
          </a:xfrm>
        </p:grpSpPr>
        <p:sp>
          <p:nvSpPr>
            <p:cNvPr name="Freeform 13" id="13"/>
            <p:cNvSpPr/>
            <p:nvPr/>
          </p:nvSpPr>
          <p:spPr>
            <a:xfrm flipH="false" flipV="false" rot="0">
              <a:off x="0" y="0"/>
              <a:ext cx="1608527" cy="1476690"/>
            </a:xfrm>
            <a:custGeom>
              <a:avLst/>
              <a:gdLst/>
              <a:ahLst/>
              <a:cxnLst/>
              <a:rect r="r" b="b" t="t" l="l"/>
              <a:pathLst>
                <a:path h="1476690" w="1608527">
                  <a:moveTo>
                    <a:pt x="0" y="0"/>
                  </a:moveTo>
                  <a:lnTo>
                    <a:pt x="1608527" y="0"/>
                  </a:lnTo>
                  <a:lnTo>
                    <a:pt x="1608527" y="1476690"/>
                  </a:lnTo>
                  <a:lnTo>
                    <a:pt x="0" y="1476690"/>
                  </a:lnTo>
                  <a:close/>
                </a:path>
              </a:pathLst>
            </a:custGeom>
            <a:solidFill>
              <a:srgbClr val="000000">
                <a:alpha val="49804"/>
              </a:srgbClr>
            </a:solidFill>
          </p:spPr>
        </p:sp>
        <p:sp>
          <p:nvSpPr>
            <p:cNvPr name="TextBox 14" id="14"/>
            <p:cNvSpPr txBox="true"/>
            <p:nvPr/>
          </p:nvSpPr>
          <p:spPr>
            <a:xfrm>
              <a:off x="0" y="-38100"/>
              <a:ext cx="1608527" cy="1514790"/>
            </a:xfrm>
            <a:prstGeom prst="rect">
              <a:avLst/>
            </a:prstGeom>
          </p:spPr>
          <p:txBody>
            <a:bodyPr anchor="ctr" rtlCol="false" tIns="50800" lIns="50800" bIns="50800" rIns="50800"/>
            <a:lstStyle/>
            <a:p>
              <a:pPr algn="ctr">
                <a:lnSpc>
                  <a:spcPts val="2659"/>
                </a:lnSpc>
              </a:pPr>
            </a:p>
          </p:txBody>
        </p:sp>
      </p:grpSp>
      <p:pic>
        <p:nvPicPr>
          <p:cNvPr name="Picture 15" id="15"/>
          <p:cNvPicPr>
            <a:picLocks noChangeAspect="true"/>
          </p:cNvPicPr>
          <p:nvPr/>
        </p:nvPicPr>
        <p:blipFill>
          <a:blip r:embed="rId4"/>
          <a:stretch>
            <a:fillRect/>
          </a:stretch>
        </p:blipFill>
        <p:spPr>
          <a:xfrm rot="0">
            <a:off x="8076938" y="972507"/>
            <a:ext cx="10150024" cy="9131629"/>
          </a:xfrm>
          <a:prstGeom prst="rect">
            <a:avLst/>
          </a:prstGeom>
        </p:spPr>
      </p:pic>
      <p:sp>
        <p:nvSpPr>
          <p:cNvPr name="TextBox 16" id="16"/>
          <p:cNvSpPr txBox="true"/>
          <p:nvPr/>
        </p:nvSpPr>
        <p:spPr>
          <a:xfrm rot="0">
            <a:off x="1369603" y="588228"/>
            <a:ext cx="4111901" cy="1376934"/>
          </a:xfrm>
          <a:prstGeom prst="rect">
            <a:avLst/>
          </a:prstGeom>
        </p:spPr>
        <p:txBody>
          <a:bodyPr anchor="t" rtlCol="false" tIns="0" lIns="0" bIns="0" rIns="0">
            <a:spAutoFit/>
          </a:bodyPr>
          <a:lstStyle/>
          <a:p>
            <a:pPr algn="l">
              <a:lnSpc>
                <a:spcPts val="11256"/>
              </a:lnSpc>
            </a:pPr>
            <a:r>
              <a:rPr lang="en-US" sz="8040">
                <a:solidFill>
                  <a:srgbClr val="FFFFFF"/>
                </a:solidFill>
                <a:latin typeface="Anton"/>
                <a:ea typeface="Anton"/>
                <a:cs typeface="Anton"/>
                <a:sym typeface="Anton"/>
              </a:rPr>
              <a:t>DISTRIBUSI</a:t>
            </a:r>
          </a:p>
        </p:txBody>
      </p:sp>
      <p:sp>
        <p:nvSpPr>
          <p:cNvPr name="TextBox 17" id="17"/>
          <p:cNvSpPr txBox="true"/>
          <p:nvPr/>
        </p:nvSpPr>
        <p:spPr>
          <a:xfrm rot="0">
            <a:off x="1433696" y="3612190"/>
            <a:ext cx="4852831" cy="598170"/>
          </a:xfrm>
          <a:prstGeom prst="rect">
            <a:avLst/>
          </a:prstGeom>
        </p:spPr>
        <p:txBody>
          <a:bodyPr anchor="t" rtlCol="false" tIns="0" lIns="0" bIns="0" rIns="0">
            <a:spAutoFit/>
          </a:bodyPr>
          <a:lstStyle/>
          <a:p>
            <a:pPr algn="l">
              <a:lnSpc>
                <a:spcPts val="4515"/>
              </a:lnSpc>
            </a:pPr>
            <a:r>
              <a:rPr lang="en-US" sz="3500">
                <a:solidFill>
                  <a:srgbClr val="FFFFFF"/>
                </a:solidFill>
                <a:latin typeface="Poppins"/>
                <a:ea typeface="Poppins"/>
                <a:cs typeface="Poppins"/>
                <a:sym typeface="Poppins"/>
              </a:rPr>
              <a:t>Dominasi Lokal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394041">
            <a:off x="-2191072" y="-23455"/>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4">
              <a:alphaModFix amt="15000"/>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058510" y="816196"/>
            <a:ext cx="8170981" cy="2805646"/>
          </a:xfrm>
          <a:prstGeom prst="rect">
            <a:avLst/>
          </a:prstGeom>
        </p:spPr>
        <p:txBody>
          <a:bodyPr anchor="t" rtlCol="false" tIns="0" lIns="0" bIns="0" rIns="0">
            <a:spAutoFit/>
          </a:bodyPr>
          <a:lstStyle/>
          <a:p>
            <a:pPr algn="ctr">
              <a:lnSpc>
                <a:spcPts val="11258"/>
              </a:lnSpc>
            </a:pPr>
            <a:r>
              <a:rPr lang="en-US" sz="8041">
                <a:solidFill>
                  <a:srgbClr val="EFBD27"/>
                </a:solidFill>
                <a:latin typeface="Anton"/>
                <a:ea typeface="Anton"/>
                <a:cs typeface="Anton"/>
                <a:sym typeface="Anton"/>
              </a:rPr>
              <a:t>REKOMENDASI</a:t>
            </a:r>
            <a:r>
              <a:rPr lang="en-US" sz="8041">
                <a:solidFill>
                  <a:srgbClr val="FFFFFF"/>
                </a:solidFill>
                <a:latin typeface="Anton"/>
                <a:ea typeface="Anton"/>
                <a:cs typeface="Anton"/>
                <a:sym typeface="Anton"/>
              </a:rPr>
              <a:t> STRATEGIS</a:t>
            </a:r>
          </a:p>
        </p:txBody>
      </p:sp>
      <p:grpSp>
        <p:nvGrpSpPr>
          <p:cNvPr name="Group 5" id="5"/>
          <p:cNvGrpSpPr/>
          <p:nvPr/>
        </p:nvGrpSpPr>
        <p:grpSpPr>
          <a:xfrm rot="0">
            <a:off x="6462967" y="4269542"/>
            <a:ext cx="5362066" cy="4055369"/>
            <a:chOff x="0" y="0"/>
            <a:chExt cx="1752386" cy="1325342"/>
          </a:xfrm>
        </p:grpSpPr>
        <p:sp>
          <p:nvSpPr>
            <p:cNvPr name="Freeform 6" id="6"/>
            <p:cNvSpPr/>
            <p:nvPr/>
          </p:nvSpPr>
          <p:spPr>
            <a:xfrm flipH="false" flipV="false" rot="0">
              <a:off x="0" y="0"/>
              <a:ext cx="1752386" cy="1325342"/>
            </a:xfrm>
            <a:custGeom>
              <a:avLst/>
              <a:gdLst/>
              <a:ahLst/>
              <a:cxnLst/>
              <a:rect r="r" b="b" t="t" l="l"/>
              <a:pathLst>
                <a:path h="1325342" w="1752386">
                  <a:moveTo>
                    <a:pt x="57753" y="0"/>
                  </a:moveTo>
                  <a:lnTo>
                    <a:pt x="1694633" y="0"/>
                  </a:lnTo>
                  <a:cubicBezTo>
                    <a:pt x="1709950" y="0"/>
                    <a:pt x="1724639" y="6085"/>
                    <a:pt x="1735470" y="16916"/>
                  </a:cubicBezTo>
                  <a:cubicBezTo>
                    <a:pt x="1746301" y="27746"/>
                    <a:pt x="1752386" y="42436"/>
                    <a:pt x="1752386" y="57753"/>
                  </a:cubicBezTo>
                  <a:lnTo>
                    <a:pt x="1752386" y="1267589"/>
                  </a:lnTo>
                  <a:cubicBezTo>
                    <a:pt x="1752386" y="1299485"/>
                    <a:pt x="1726529" y="1325342"/>
                    <a:pt x="1694633" y="1325342"/>
                  </a:cubicBezTo>
                  <a:lnTo>
                    <a:pt x="57753" y="1325342"/>
                  </a:lnTo>
                  <a:cubicBezTo>
                    <a:pt x="25857" y="1325342"/>
                    <a:pt x="0" y="1299485"/>
                    <a:pt x="0" y="1267589"/>
                  </a:cubicBezTo>
                  <a:lnTo>
                    <a:pt x="0" y="57753"/>
                  </a:lnTo>
                  <a:cubicBezTo>
                    <a:pt x="0" y="42436"/>
                    <a:pt x="6085" y="27746"/>
                    <a:pt x="16916" y="16916"/>
                  </a:cubicBezTo>
                  <a:cubicBezTo>
                    <a:pt x="27746" y="6085"/>
                    <a:pt x="42436" y="0"/>
                    <a:pt x="57753" y="0"/>
                  </a:cubicBezTo>
                  <a:close/>
                </a:path>
              </a:pathLst>
            </a:custGeom>
            <a:solidFill>
              <a:srgbClr val="EFBD27"/>
            </a:solidFill>
          </p:spPr>
        </p:sp>
        <p:sp>
          <p:nvSpPr>
            <p:cNvPr name="TextBox 7" id="7"/>
            <p:cNvSpPr txBox="true"/>
            <p:nvPr/>
          </p:nvSpPr>
          <p:spPr>
            <a:xfrm>
              <a:off x="0" y="-38100"/>
              <a:ext cx="1752386" cy="13634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655923" y="4879997"/>
            <a:ext cx="4976154" cy="643667"/>
            <a:chOff x="0" y="0"/>
            <a:chExt cx="1626265" cy="210358"/>
          </a:xfrm>
        </p:grpSpPr>
        <p:sp>
          <p:nvSpPr>
            <p:cNvPr name="Freeform 9" id="9"/>
            <p:cNvSpPr/>
            <p:nvPr/>
          </p:nvSpPr>
          <p:spPr>
            <a:xfrm flipH="false" flipV="false" rot="0">
              <a:off x="0" y="0"/>
              <a:ext cx="1626265" cy="210358"/>
            </a:xfrm>
            <a:custGeom>
              <a:avLst/>
              <a:gdLst/>
              <a:ahLst/>
              <a:cxnLst/>
              <a:rect r="r" b="b" t="t" l="l"/>
              <a:pathLst>
                <a:path h="210358" w="1626265">
                  <a:moveTo>
                    <a:pt x="62232" y="0"/>
                  </a:moveTo>
                  <a:lnTo>
                    <a:pt x="1564033" y="0"/>
                  </a:lnTo>
                  <a:cubicBezTo>
                    <a:pt x="1598403" y="0"/>
                    <a:pt x="1626265" y="27862"/>
                    <a:pt x="1626265" y="62232"/>
                  </a:cubicBezTo>
                  <a:lnTo>
                    <a:pt x="1626265" y="148126"/>
                  </a:lnTo>
                  <a:cubicBezTo>
                    <a:pt x="1626265" y="182496"/>
                    <a:pt x="1598403" y="210358"/>
                    <a:pt x="1564033" y="210358"/>
                  </a:cubicBezTo>
                  <a:lnTo>
                    <a:pt x="62232" y="210358"/>
                  </a:lnTo>
                  <a:cubicBezTo>
                    <a:pt x="27862" y="210358"/>
                    <a:pt x="0" y="182496"/>
                    <a:pt x="0" y="148126"/>
                  </a:cubicBezTo>
                  <a:lnTo>
                    <a:pt x="0" y="62232"/>
                  </a:lnTo>
                  <a:cubicBezTo>
                    <a:pt x="0" y="27862"/>
                    <a:pt x="27862" y="0"/>
                    <a:pt x="62232" y="0"/>
                  </a:cubicBezTo>
                  <a:close/>
                </a:path>
              </a:pathLst>
            </a:custGeom>
            <a:solidFill>
              <a:srgbClr val="003A46"/>
            </a:solidFill>
          </p:spPr>
        </p:sp>
        <p:sp>
          <p:nvSpPr>
            <p:cNvPr name="TextBox 10" id="10"/>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5228254" y="1028700"/>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5352079" y="9195903"/>
            <a:ext cx="2153466" cy="581993"/>
            <a:chOff x="0" y="0"/>
            <a:chExt cx="669810" cy="181022"/>
          </a:xfrm>
        </p:grpSpPr>
        <p:sp>
          <p:nvSpPr>
            <p:cNvPr name="Freeform 13" id="13"/>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4" id="14"/>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6774729" y="9330276"/>
            <a:ext cx="318695" cy="329826"/>
          </a:xfrm>
          <a:custGeom>
            <a:avLst/>
            <a:gdLst/>
            <a:ahLst/>
            <a:cxnLst/>
            <a:rect r="r" b="b" t="t" l="l"/>
            <a:pathLst>
              <a:path h="329826" w="318695">
                <a:moveTo>
                  <a:pt x="0" y="0"/>
                </a:moveTo>
                <a:lnTo>
                  <a:pt x="318694" y="0"/>
                </a:lnTo>
                <a:lnTo>
                  <a:pt x="318694" y="329827"/>
                </a:lnTo>
                <a:lnTo>
                  <a:pt x="0" y="329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577284" y="9098113"/>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7065881" y="5011008"/>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Rotasi</a:t>
            </a:r>
          </a:p>
        </p:txBody>
      </p:sp>
      <p:sp>
        <p:nvSpPr>
          <p:cNvPr name="TextBox 18" id="18"/>
          <p:cNvSpPr txBox="true"/>
          <p:nvPr/>
        </p:nvSpPr>
        <p:spPr>
          <a:xfrm rot="0">
            <a:off x="6951849" y="5821319"/>
            <a:ext cx="4384303" cy="1488186"/>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Meningkatkan menit bermain U-21 dari 13% ke 20% untuk menjamin keberlanjutan tim di musim depan.</a:t>
            </a:r>
          </a:p>
        </p:txBody>
      </p:sp>
      <p:sp>
        <p:nvSpPr>
          <p:cNvPr name="TextBox 19" id="19"/>
          <p:cNvSpPr txBox="true"/>
          <p:nvPr/>
        </p:nvSpPr>
        <p:spPr>
          <a:xfrm rot="0">
            <a:off x="15752947" y="9368376"/>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grpSp>
        <p:nvGrpSpPr>
          <p:cNvPr name="Group 20" id="20"/>
          <p:cNvGrpSpPr/>
          <p:nvPr/>
        </p:nvGrpSpPr>
        <p:grpSpPr>
          <a:xfrm rot="0">
            <a:off x="516735" y="4269542"/>
            <a:ext cx="5362066" cy="4055369"/>
            <a:chOff x="0" y="0"/>
            <a:chExt cx="1752386" cy="1325342"/>
          </a:xfrm>
        </p:grpSpPr>
        <p:sp>
          <p:nvSpPr>
            <p:cNvPr name="Freeform 21" id="21"/>
            <p:cNvSpPr/>
            <p:nvPr/>
          </p:nvSpPr>
          <p:spPr>
            <a:xfrm flipH="false" flipV="false" rot="0">
              <a:off x="0" y="0"/>
              <a:ext cx="1752386" cy="1325342"/>
            </a:xfrm>
            <a:custGeom>
              <a:avLst/>
              <a:gdLst/>
              <a:ahLst/>
              <a:cxnLst/>
              <a:rect r="r" b="b" t="t" l="l"/>
              <a:pathLst>
                <a:path h="1325342" w="1752386">
                  <a:moveTo>
                    <a:pt x="57753" y="0"/>
                  </a:moveTo>
                  <a:lnTo>
                    <a:pt x="1694633" y="0"/>
                  </a:lnTo>
                  <a:cubicBezTo>
                    <a:pt x="1709950" y="0"/>
                    <a:pt x="1724639" y="6085"/>
                    <a:pt x="1735470" y="16916"/>
                  </a:cubicBezTo>
                  <a:cubicBezTo>
                    <a:pt x="1746301" y="27746"/>
                    <a:pt x="1752386" y="42436"/>
                    <a:pt x="1752386" y="57753"/>
                  </a:cubicBezTo>
                  <a:lnTo>
                    <a:pt x="1752386" y="1267589"/>
                  </a:lnTo>
                  <a:cubicBezTo>
                    <a:pt x="1752386" y="1299485"/>
                    <a:pt x="1726529" y="1325342"/>
                    <a:pt x="1694633" y="1325342"/>
                  </a:cubicBezTo>
                  <a:lnTo>
                    <a:pt x="57753" y="1325342"/>
                  </a:lnTo>
                  <a:cubicBezTo>
                    <a:pt x="25857" y="1325342"/>
                    <a:pt x="0" y="1299485"/>
                    <a:pt x="0" y="1267589"/>
                  </a:cubicBezTo>
                  <a:lnTo>
                    <a:pt x="0" y="57753"/>
                  </a:lnTo>
                  <a:cubicBezTo>
                    <a:pt x="0" y="42436"/>
                    <a:pt x="6085" y="27746"/>
                    <a:pt x="16916" y="16916"/>
                  </a:cubicBezTo>
                  <a:cubicBezTo>
                    <a:pt x="27746" y="6085"/>
                    <a:pt x="42436" y="0"/>
                    <a:pt x="57753" y="0"/>
                  </a:cubicBezTo>
                  <a:close/>
                </a:path>
              </a:pathLst>
            </a:custGeom>
            <a:solidFill>
              <a:srgbClr val="EFBD27"/>
            </a:solidFill>
          </p:spPr>
        </p:sp>
        <p:sp>
          <p:nvSpPr>
            <p:cNvPr name="TextBox 22" id="22"/>
            <p:cNvSpPr txBox="true"/>
            <p:nvPr/>
          </p:nvSpPr>
          <p:spPr>
            <a:xfrm>
              <a:off x="0" y="-38100"/>
              <a:ext cx="1752386" cy="1363442"/>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709691" y="4870932"/>
            <a:ext cx="4976154" cy="643667"/>
            <a:chOff x="0" y="0"/>
            <a:chExt cx="1626265" cy="210358"/>
          </a:xfrm>
        </p:grpSpPr>
        <p:sp>
          <p:nvSpPr>
            <p:cNvPr name="Freeform 24" id="24"/>
            <p:cNvSpPr/>
            <p:nvPr/>
          </p:nvSpPr>
          <p:spPr>
            <a:xfrm flipH="false" flipV="false" rot="0">
              <a:off x="0" y="0"/>
              <a:ext cx="1626265" cy="210358"/>
            </a:xfrm>
            <a:custGeom>
              <a:avLst/>
              <a:gdLst/>
              <a:ahLst/>
              <a:cxnLst/>
              <a:rect r="r" b="b" t="t" l="l"/>
              <a:pathLst>
                <a:path h="210358" w="1626265">
                  <a:moveTo>
                    <a:pt x="62232" y="0"/>
                  </a:moveTo>
                  <a:lnTo>
                    <a:pt x="1564033" y="0"/>
                  </a:lnTo>
                  <a:cubicBezTo>
                    <a:pt x="1598403" y="0"/>
                    <a:pt x="1626265" y="27862"/>
                    <a:pt x="1626265" y="62232"/>
                  </a:cubicBezTo>
                  <a:lnTo>
                    <a:pt x="1626265" y="148126"/>
                  </a:lnTo>
                  <a:cubicBezTo>
                    <a:pt x="1626265" y="182496"/>
                    <a:pt x="1598403" y="210358"/>
                    <a:pt x="1564033" y="210358"/>
                  </a:cubicBezTo>
                  <a:lnTo>
                    <a:pt x="62232" y="210358"/>
                  </a:lnTo>
                  <a:cubicBezTo>
                    <a:pt x="27862" y="210358"/>
                    <a:pt x="0" y="182496"/>
                    <a:pt x="0" y="148126"/>
                  </a:cubicBezTo>
                  <a:lnTo>
                    <a:pt x="0" y="62232"/>
                  </a:lnTo>
                  <a:cubicBezTo>
                    <a:pt x="0" y="27862"/>
                    <a:pt x="27862" y="0"/>
                    <a:pt x="62232" y="0"/>
                  </a:cubicBezTo>
                  <a:close/>
                </a:path>
              </a:pathLst>
            </a:custGeom>
            <a:solidFill>
              <a:srgbClr val="003A46"/>
            </a:solidFill>
          </p:spPr>
        </p:sp>
        <p:sp>
          <p:nvSpPr>
            <p:cNvPr name="TextBox 25" id="25"/>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119649" y="4992877"/>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Scouting</a:t>
            </a:r>
          </a:p>
        </p:txBody>
      </p:sp>
      <p:sp>
        <p:nvSpPr>
          <p:cNvPr name="TextBox 27" id="27"/>
          <p:cNvSpPr txBox="true"/>
          <p:nvPr/>
        </p:nvSpPr>
        <p:spPr>
          <a:xfrm rot="0">
            <a:off x="1005616" y="5821319"/>
            <a:ext cx="4384303" cy="18596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Prioritaskan pemain dengan efisiensi Open Play tinggi (seperti Cunha) daripada yang bergantung pada penalti.</a:t>
            </a:r>
          </a:p>
        </p:txBody>
      </p:sp>
      <p:grpSp>
        <p:nvGrpSpPr>
          <p:cNvPr name="Group 28" id="28"/>
          <p:cNvGrpSpPr/>
          <p:nvPr/>
        </p:nvGrpSpPr>
        <p:grpSpPr>
          <a:xfrm rot="0">
            <a:off x="12406058" y="4300673"/>
            <a:ext cx="5362066" cy="4055369"/>
            <a:chOff x="0" y="0"/>
            <a:chExt cx="1752386" cy="1325342"/>
          </a:xfrm>
        </p:grpSpPr>
        <p:sp>
          <p:nvSpPr>
            <p:cNvPr name="Freeform 29" id="29"/>
            <p:cNvSpPr/>
            <p:nvPr/>
          </p:nvSpPr>
          <p:spPr>
            <a:xfrm flipH="false" flipV="false" rot="0">
              <a:off x="0" y="0"/>
              <a:ext cx="1752386" cy="1325342"/>
            </a:xfrm>
            <a:custGeom>
              <a:avLst/>
              <a:gdLst/>
              <a:ahLst/>
              <a:cxnLst/>
              <a:rect r="r" b="b" t="t" l="l"/>
              <a:pathLst>
                <a:path h="1325342" w="1752386">
                  <a:moveTo>
                    <a:pt x="57753" y="0"/>
                  </a:moveTo>
                  <a:lnTo>
                    <a:pt x="1694633" y="0"/>
                  </a:lnTo>
                  <a:cubicBezTo>
                    <a:pt x="1709950" y="0"/>
                    <a:pt x="1724639" y="6085"/>
                    <a:pt x="1735470" y="16916"/>
                  </a:cubicBezTo>
                  <a:cubicBezTo>
                    <a:pt x="1746301" y="27746"/>
                    <a:pt x="1752386" y="42436"/>
                    <a:pt x="1752386" y="57753"/>
                  </a:cubicBezTo>
                  <a:lnTo>
                    <a:pt x="1752386" y="1267589"/>
                  </a:lnTo>
                  <a:cubicBezTo>
                    <a:pt x="1752386" y="1299485"/>
                    <a:pt x="1726529" y="1325342"/>
                    <a:pt x="1694633" y="1325342"/>
                  </a:cubicBezTo>
                  <a:lnTo>
                    <a:pt x="57753" y="1325342"/>
                  </a:lnTo>
                  <a:cubicBezTo>
                    <a:pt x="25857" y="1325342"/>
                    <a:pt x="0" y="1299485"/>
                    <a:pt x="0" y="1267589"/>
                  </a:cubicBezTo>
                  <a:lnTo>
                    <a:pt x="0" y="57753"/>
                  </a:lnTo>
                  <a:cubicBezTo>
                    <a:pt x="0" y="42436"/>
                    <a:pt x="6085" y="27746"/>
                    <a:pt x="16916" y="16916"/>
                  </a:cubicBezTo>
                  <a:cubicBezTo>
                    <a:pt x="27746" y="6085"/>
                    <a:pt x="42436" y="0"/>
                    <a:pt x="57753" y="0"/>
                  </a:cubicBezTo>
                  <a:close/>
                </a:path>
              </a:pathLst>
            </a:custGeom>
            <a:solidFill>
              <a:srgbClr val="EFBD27"/>
            </a:solidFill>
          </p:spPr>
        </p:sp>
        <p:sp>
          <p:nvSpPr>
            <p:cNvPr name="TextBox 30" id="30"/>
            <p:cNvSpPr txBox="true"/>
            <p:nvPr/>
          </p:nvSpPr>
          <p:spPr>
            <a:xfrm>
              <a:off x="0" y="-38100"/>
              <a:ext cx="1752386" cy="1363442"/>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599014" y="4870932"/>
            <a:ext cx="4976154" cy="643667"/>
            <a:chOff x="0" y="0"/>
            <a:chExt cx="1626265" cy="210358"/>
          </a:xfrm>
        </p:grpSpPr>
        <p:sp>
          <p:nvSpPr>
            <p:cNvPr name="Freeform 32" id="32"/>
            <p:cNvSpPr/>
            <p:nvPr/>
          </p:nvSpPr>
          <p:spPr>
            <a:xfrm flipH="false" flipV="false" rot="0">
              <a:off x="0" y="0"/>
              <a:ext cx="1626265" cy="210358"/>
            </a:xfrm>
            <a:custGeom>
              <a:avLst/>
              <a:gdLst/>
              <a:ahLst/>
              <a:cxnLst/>
              <a:rect r="r" b="b" t="t" l="l"/>
              <a:pathLst>
                <a:path h="210358" w="1626265">
                  <a:moveTo>
                    <a:pt x="62232" y="0"/>
                  </a:moveTo>
                  <a:lnTo>
                    <a:pt x="1564033" y="0"/>
                  </a:lnTo>
                  <a:cubicBezTo>
                    <a:pt x="1598403" y="0"/>
                    <a:pt x="1626265" y="27862"/>
                    <a:pt x="1626265" y="62232"/>
                  </a:cubicBezTo>
                  <a:lnTo>
                    <a:pt x="1626265" y="148126"/>
                  </a:lnTo>
                  <a:cubicBezTo>
                    <a:pt x="1626265" y="182496"/>
                    <a:pt x="1598403" y="210358"/>
                    <a:pt x="1564033" y="210358"/>
                  </a:cubicBezTo>
                  <a:lnTo>
                    <a:pt x="62232" y="210358"/>
                  </a:lnTo>
                  <a:cubicBezTo>
                    <a:pt x="27862" y="210358"/>
                    <a:pt x="0" y="182496"/>
                    <a:pt x="0" y="148126"/>
                  </a:cubicBezTo>
                  <a:lnTo>
                    <a:pt x="0" y="62232"/>
                  </a:lnTo>
                  <a:cubicBezTo>
                    <a:pt x="0" y="27862"/>
                    <a:pt x="27862" y="0"/>
                    <a:pt x="62232" y="0"/>
                  </a:cubicBezTo>
                  <a:close/>
                </a:path>
              </a:pathLst>
            </a:custGeom>
            <a:solidFill>
              <a:srgbClr val="003A46"/>
            </a:solidFill>
          </p:spPr>
        </p:sp>
        <p:sp>
          <p:nvSpPr>
            <p:cNvPr name="TextBox 33" id="33"/>
            <p:cNvSpPr txBox="true"/>
            <p:nvPr/>
          </p:nvSpPr>
          <p:spPr>
            <a:xfrm>
              <a:off x="0" y="-38100"/>
              <a:ext cx="1626265" cy="24845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13008972" y="5001942"/>
            <a:ext cx="4156237" cy="371202"/>
          </a:xfrm>
          <a:prstGeom prst="rect">
            <a:avLst/>
          </a:prstGeom>
        </p:spPr>
        <p:txBody>
          <a:bodyPr anchor="t" rtlCol="false" tIns="0" lIns="0" bIns="0" rIns="0">
            <a:spAutoFit/>
          </a:bodyPr>
          <a:lstStyle/>
          <a:p>
            <a:pPr algn="ctr">
              <a:lnSpc>
                <a:spcPts val="2964"/>
              </a:lnSpc>
            </a:pPr>
            <a:r>
              <a:rPr lang="en-US" b="true" sz="2297">
                <a:solidFill>
                  <a:srgbClr val="FFFFFF"/>
                </a:solidFill>
                <a:latin typeface="Poppins Semi-Bold"/>
                <a:ea typeface="Poppins Semi-Bold"/>
                <a:cs typeface="Poppins Semi-Bold"/>
                <a:sym typeface="Poppins Semi-Bold"/>
              </a:rPr>
              <a:t>Rekrutmen</a:t>
            </a:r>
          </a:p>
        </p:txBody>
      </p:sp>
      <p:sp>
        <p:nvSpPr>
          <p:cNvPr name="TextBox 35" id="35"/>
          <p:cNvSpPr txBox="true"/>
          <p:nvPr/>
        </p:nvSpPr>
        <p:spPr>
          <a:xfrm rot="0">
            <a:off x="12894939" y="5821319"/>
            <a:ext cx="4384303" cy="1488186"/>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Optimalkan kuota lokal via akademi dan alokasikan budget transfer untuk talenta asing undervalued.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1035805">
            <a:off x="7290934" y="8584336"/>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4225" y="1435111"/>
            <a:ext cx="7680410" cy="8851889"/>
            <a:chOff x="0" y="0"/>
            <a:chExt cx="483784" cy="557575"/>
          </a:xfrm>
        </p:grpSpPr>
        <p:sp>
          <p:nvSpPr>
            <p:cNvPr name="Freeform 4" id="4"/>
            <p:cNvSpPr/>
            <p:nvPr/>
          </p:nvSpPr>
          <p:spPr>
            <a:xfrm flipH="false" flipV="false" rot="0">
              <a:off x="3327" y="0"/>
              <a:ext cx="477129" cy="557575"/>
            </a:xfrm>
            <a:custGeom>
              <a:avLst/>
              <a:gdLst/>
              <a:ahLst/>
              <a:cxnLst/>
              <a:rect r="r" b="b" t="t" l="l"/>
              <a:pathLst>
                <a:path h="557575" w="477129">
                  <a:moveTo>
                    <a:pt x="266169" y="0"/>
                  </a:moveTo>
                  <a:lnTo>
                    <a:pt x="7761" y="0"/>
                  </a:lnTo>
                  <a:cubicBezTo>
                    <a:pt x="5229" y="0"/>
                    <a:pt x="2855" y="1236"/>
                    <a:pt x="1403" y="3311"/>
                  </a:cubicBezTo>
                  <a:cubicBezTo>
                    <a:pt x="-49" y="5385"/>
                    <a:pt x="-398" y="8038"/>
                    <a:pt x="470" y="10418"/>
                  </a:cubicBezTo>
                  <a:lnTo>
                    <a:pt x="196076" y="547157"/>
                  </a:lnTo>
                  <a:cubicBezTo>
                    <a:pt x="198356" y="553412"/>
                    <a:pt x="204303" y="557575"/>
                    <a:pt x="210961" y="557575"/>
                  </a:cubicBezTo>
                  <a:lnTo>
                    <a:pt x="469369" y="557575"/>
                  </a:lnTo>
                  <a:cubicBezTo>
                    <a:pt x="471902" y="557575"/>
                    <a:pt x="474275" y="556339"/>
                    <a:pt x="475727" y="554264"/>
                  </a:cubicBezTo>
                  <a:cubicBezTo>
                    <a:pt x="477179" y="552189"/>
                    <a:pt x="477528" y="549536"/>
                    <a:pt x="476660" y="547157"/>
                  </a:cubicBezTo>
                  <a:lnTo>
                    <a:pt x="281054" y="10418"/>
                  </a:lnTo>
                  <a:cubicBezTo>
                    <a:pt x="278774" y="4163"/>
                    <a:pt x="272827" y="0"/>
                    <a:pt x="266169" y="0"/>
                  </a:cubicBezTo>
                  <a:close/>
                </a:path>
              </a:pathLst>
            </a:custGeom>
            <a:blipFill>
              <a:blip r:embed="rId4"/>
              <a:stretch>
                <a:fillRect l="-53875" t="0" r="-53875" b="0"/>
              </a:stretch>
            </a:blipFill>
          </p:spPr>
        </p:sp>
      </p:grpSp>
      <p:grpSp>
        <p:nvGrpSpPr>
          <p:cNvPr name="Group 5" id="5"/>
          <p:cNvGrpSpPr/>
          <p:nvPr/>
        </p:nvGrpSpPr>
        <p:grpSpPr>
          <a:xfrm rot="0">
            <a:off x="-1544825" y="8220162"/>
            <a:ext cx="3836093" cy="2241066"/>
            <a:chOff x="0" y="0"/>
            <a:chExt cx="995110" cy="581349"/>
          </a:xfrm>
        </p:grpSpPr>
        <p:sp>
          <p:nvSpPr>
            <p:cNvPr name="Freeform 6" id="6"/>
            <p:cNvSpPr/>
            <p:nvPr/>
          </p:nvSpPr>
          <p:spPr>
            <a:xfrm flipH="false" flipV="false" rot="0">
              <a:off x="0" y="0"/>
              <a:ext cx="995110" cy="581349"/>
            </a:xfrm>
            <a:custGeom>
              <a:avLst/>
              <a:gdLst/>
              <a:ahLst/>
              <a:cxnLst/>
              <a:rect r="r" b="b" t="t" l="l"/>
              <a:pathLst>
                <a:path h="581349" w="995110">
                  <a:moveTo>
                    <a:pt x="203200" y="0"/>
                  </a:moveTo>
                  <a:lnTo>
                    <a:pt x="791910" y="0"/>
                  </a:lnTo>
                  <a:lnTo>
                    <a:pt x="995110" y="581349"/>
                  </a:lnTo>
                  <a:lnTo>
                    <a:pt x="0" y="581349"/>
                  </a:lnTo>
                  <a:lnTo>
                    <a:pt x="203200" y="0"/>
                  </a:lnTo>
                  <a:close/>
                </a:path>
              </a:pathLst>
            </a:custGeom>
            <a:solidFill>
              <a:srgbClr val="EFBD27"/>
            </a:solidFill>
          </p:spPr>
        </p:sp>
        <p:sp>
          <p:nvSpPr>
            <p:cNvPr name="TextBox 7" id="7"/>
            <p:cNvSpPr txBox="true"/>
            <p:nvPr/>
          </p:nvSpPr>
          <p:spPr>
            <a:xfrm>
              <a:off x="127000" y="-38100"/>
              <a:ext cx="741110" cy="61944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997971" y="8194061"/>
            <a:ext cx="2265920" cy="1568799"/>
            <a:chOff x="0" y="0"/>
            <a:chExt cx="1050498" cy="727308"/>
          </a:xfrm>
        </p:grpSpPr>
        <p:sp>
          <p:nvSpPr>
            <p:cNvPr name="Freeform 9" id="9"/>
            <p:cNvSpPr/>
            <p:nvPr/>
          </p:nvSpPr>
          <p:spPr>
            <a:xfrm flipH="false" flipV="false" rot="0">
              <a:off x="0" y="0"/>
              <a:ext cx="1050498" cy="727308"/>
            </a:xfrm>
            <a:custGeom>
              <a:avLst/>
              <a:gdLst/>
              <a:ahLst/>
              <a:cxnLst/>
              <a:rect r="r" b="b" t="t" l="l"/>
              <a:pathLst>
                <a:path h="727308" w="1050498">
                  <a:moveTo>
                    <a:pt x="847298" y="0"/>
                  </a:moveTo>
                  <a:lnTo>
                    <a:pt x="0" y="0"/>
                  </a:lnTo>
                  <a:lnTo>
                    <a:pt x="203200" y="727308"/>
                  </a:lnTo>
                  <a:lnTo>
                    <a:pt x="1050498" y="727308"/>
                  </a:lnTo>
                  <a:lnTo>
                    <a:pt x="847298" y="0"/>
                  </a:lnTo>
                  <a:close/>
                </a:path>
              </a:pathLst>
            </a:custGeom>
            <a:solidFill>
              <a:srgbClr val="EFBD27"/>
            </a:solidFill>
            <a:ln cap="sq">
              <a:noFill/>
              <a:prstDash val="solid"/>
              <a:miter/>
            </a:ln>
          </p:spPr>
        </p:sp>
        <p:sp>
          <p:nvSpPr>
            <p:cNvPr name="TextBox 10" id="10"/>
            <p:cNvSpPr txBox="true"/>
            <p:nvPr/>
          </p:nvSpPr>
          <p:spPr>
            <a:xfrm>
              <a:off x="101600" y="-38100"/>
              <a:ext cx="847298" cy="76540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980210" y="4815542"/>
            <a:ext cx="4802810" cy="4593132"/>
            <a:chOff x="0" y="0"/>
            <a:chExt cx="583028" cy="557575"/>
          </a:xfrm>
        </p:grpSpPr>
        <p:sp>
          <p:nvSpPr>
            <p:cNvPr name="Freeform 13" id="13"/>
            <p:cNvSpPr/>
            <p:nvPr/>
          </p:nvSpPr>
          <p:spPr>
            <a:xfrm flipH="false" flipV="false" rot="0">
              <a:off x="5321" y="0"/>
              <a:ext cx="572386" cy="557575"/>
            </a:xfrm>
            <a:custGeom>
              <a:avLst/>
              <a:gdLst/>
              <a:ahLst/>
              <a:cxnLst/>
              <a:rect r="r" b="b" t="t" l="l"/>
              <a:pathLst>
                <a:path h="557575" w="572386">
                  <a:moveTo>
                    <a:pt x="356776" y="0"/>
                  </a:moveTo>
                  <a:lnTo>
                    <a:pt x="12411" y="0"/>
                  </a:lnTo>
                  <a:cubicBezTo>
                    <a:pt x="8361" y="0"/>
                    <a:pt x="4565" y="1976"/>
                    <a:pt x="2243" y="5294"/>
                  </a:cubicBezTo>
                  <a:cubicBezTo>
                    <a:pt x="-79" y="8612"/>
                    <a:pt x="-636" y="12855"/>
                    <a:pt x="750" y="16660"/>
                  </a:cubicBezTo>
                  <a:lnTo>
                    <a:pt x="191808" y="540915"/>
                  </a:lnTo>
                  <a:cubicBezTo>
                    <a:pt x="195453" y="550918"/>
                    <a:pt x="204964" y="557575"/>
                    <a:pt x="215611" y="557575"/>
                  </a:cubicBezTo>
                  <a:lnTo>
                    <a:pt x="559976" y="557575"/>
                  </a:lnTo>
                  <a:cubicBezTo>
                    <a:pt x="564026" y="557575"/>
                    <a:pt x="567821" y="555599"/>
                    <a:pt x="570143" y="552281"/>
                  </a:cubicBezTo>
                  <a:cubicBezTo>
                    <a:pt x="572465" y="548963"/>
                    <a:pt x="573023" y="544720"/>
                    <a:pt x="571636" y="540915"/>
                  </a:cubicBezTo>
                  <a:lnTo>
                    <a:pt x="380579" y="16660"/>
                  </a:lnTo>
                  <a:cubicBezTo>
                    <a:pt x="376933" y="6657"/>
                    <a:pt x="367422" y="0"/>
                    <a:pt x="356776" y="0"/>
                  </a:cubicBezTo>
                  <a:close/>
                </a:path>
              </a:pathLst>
            </a:custGeom>
            <a:blipFill>
              <a:blip r:embed="rId7"/>
              <a:stretch>
                <a:fillRect l="-14941" t="0" r="-14941" b="0"/>
              </a:stretch>
            </a:blipFill>
          </p:spPr>
        </p:sp>
      </p:grpSp>
      <p:grpSp>
        <p:nvGrpSpPr>
          <p:cNvPr name="Group 14" id="14"/>
          <p:cNvGrpSpPr/>
          <p:nvPr/>
        </p:nvGrpSpPr>
        <p:grpSpPr>
          <a:xfrm rot="0">
            <a:off x="14629513" y="8758703"/>
            <a:ext cx="2153466" cy="581993"/>
            <a:chOff x="0" y="0"/>
            <a:chExt cx="669810" cy="181022"/>
          </a:xfrm>
        </p:grpSpPr>
        <p:sp>
          <p:nvSpPr>
            <p:cNvPr name="Freeform 15" id="15"/>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6" id="16"/>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6052162" y="8893075"/>
            <a:ext cx="318695" cy="329826"/>
          </a:xfrm>
          <a:custGeom>
            <a:avLst/>
            <a:gdLst/>
            <a:ahLst/>
            <a:cxnLst/>
            <a:rect r="r" b="b" t="t" l="l"/>
            <a:pathLst>
              <a:path h="329826" w="318695">
                <a:moveTo>
                  <a:pt x="0" y="0"/>
                </a:moveTo>
                <a:lnTo>
                  <a:pt x="318695" y="0"/>
                </a:lnTo>
                <a:lnTo>
                  <a:pt x="318695" y="329827"/>
                </a:lnTo>
                <a:lnTo>
                  <a:pt x="0" y="329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5400000">
            <a:off x="16328500" y="2485893"/>
            <a:ext cx="1747300" cy="312330"/>
          </a:xfrm>
          <a:custGeom>
            <a:avLst/>
            <a:gdLst/>
            <a:ahLst/>
            <a:cxnLst/>
            <a:rect r="r" b="b" t="t" l="l"/>
            <a:pathLst>
              <a:path h="312330" w="1747300">
                <a:moveTo>
                  <a:pt x="0" y="0"/>
                </a:moveTo>
                <a:lnTo>
                  <a:pt x="1747300" y="0"/>
                </a:lnTo>
                <a:lnTo>
                  <a:pt x="1747300" y="312330"/>
                </a:lnTo>
                <a:lnTo>
                  <a:pt x="0" y="3123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9" id="19"/>
          <p:cNvGrpSpPr/>
          <p:nvPr/>
        </p:nvGrpSpPr>
        <p:grpSpPr>
          <a:xfrm rot="0">
            <a:off x="9639312" y="5519486"/>
            <a:ext cx="3002472" cy="2026089"/>
            <a:chOff x="0" y="0"/>
            <a:chExt cx="981243" cy="662150"/>
          </a:xfrm>
        </p:grpSpPr>
        <p:sp>
          <p:nvSpPr>
            <p:cNvPr name="Freeform 20" id="20"/>
            <p:cNvSpPr/>
            <p:nvPr/>
          </p:nvSpPr>
          <p:spPr>
            <a:xfrm flipH="false" flipV="false" rot="0">
              <a:off x="0" y="0"/>
              <a:ext cx="981243" cy="662150"/>
            </a:xfrm>
            <a:custGeom>
              <a:avLst/>
              <a:gdLst/>
              <a:ahLst/>
              <a:cxnLst/>
              <a:rect r="r" b="b" t="t" l="l"/>
              <a:pathLst>
                <a:path h="662150" w="981243">
                  <a:moveTo>
                    <a:pt x="103141" y="0"/>
                  </a:moveTo>
                  <a:lnTo>
                    <a:pt x="878102" y="0"/>
                  </a:lnTo>
                  <a:cubicBezTo>
                    <a:pt x="935065" y="0"/>
                    <a:pt x="981243" y="46178"/>
                    <a:pt x="981243" y="103141"/>
                  </a:cubicBezTo>
                  <a:lnTo>
                    <a:pt x="981243" y="559009"/>
                  </a:lnTo>
                  <a:cubicBezTo>
                    <a:pt x="981243" y="586363"/>
                    <a:pt x="970376" y="612598"/>
                    <a:pt x="951034" y="631940"/>
                  </a:cubicBezTo>
                  <a:cubicBezTo>
                    <a:pt x="931691" y="651283"/>
                    <a:pt x="905457" y="662150"/>
                    <a:pt x="878102" y="662150"/>
                  </a:cubicBezTo>
                  <a:lnTo>
                    <a:pt x="103141" y="662150"/>
                  </a:lnTo>
                  <a:cubicBezTo>
                    <a:pt x="46178" y="662150"/>
                    <a:pt x="0" y="615972"/>
                    <a:pt x="0" y="559009"/>
                  </a:cubicBezTo>
                  <a:lnTo>
                    <a:pt x="0" y="103141"/>
                  </a:lnTo>
                  <a:cubicBezTo>
                    <a:pt x="0" y="46178"/>
                    <a:pt x="46178" y="0"/>
                    <a:pt x="103141" y="0"/>
                  </a:cubicBezTo>
                  <a:close/>
                </a:path>
              </a:pathLst>
            </a:custGeom>
            <a:solidFill>
              <a:srgbClr val="EFBD27"/>
            </a:solidFill>
          </p:spPr>
        </p:sp>
        <p:sp>
          <p:nvSpPr>
            <p:cNvPr name="TextBox 21" id="21"/>
            <p:cNvSpPr txBox="true"/>
            <p:nvPr/>
          </p:nvSpPr>
          <p:spPr>
            <a:xfrm>
              <a:off x="0" y="-38100"/>
              <a:ext cx="981243" cy="70025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3636798" y="5519486"/>
            <a:ext cx="3002472" cy="2026089"/>
            <a:chOff x="0" y="0"/>
            <a:chExt cx="981243" cy="662150"/>
          </a:xfrm>
        </p:grpSpPr>
        <p:sp>
          <p:nvSpPr>
            <p:cNvPr name="Freeform 23" id="23"/>
            <p:cNvSpPr/>
            <p:nvPr/>
          </p:nvSpPr>
          <p:spPr>
            <a:xfrm flipH="false" flipV="false" rot="0">
              <a:off x="0" y="0"/>
              <a:ext cx="981243" cy="662150"/>
            </a:xfrm>
            <a:custGeom>
              <a:avLst/>
              <a:gdLst/>
              <a:ahLst/>
              <a:cxnLst/>
              <a:rect r="r" b="b" t="t" l="l"/>
              <a:pathLst>
                <a:path h="662150" w="981243">
                  <a:moveTo>
                    <a:pt x="103141" y="0"/>
                  </a:moveTo>
                  <a:lnTo>
                    <a:pt x="878102" y="0"/>
                  </a:lnTo>
                  <a:cubicBezTo>
                    <a:pt x="935065" y="0"/>
                    <a:pt x="981243" y="46178"/>
                    <a:pt x="981243" y="103141"/>
                  </a:cubicBezTo>
                  <a:lnTo>
                    <a:pt x="981243" y="559009"/>
                  </a:lnTo>
                  <a:cubicBezTo>
                    <a:pt x="981243" y="586363"/>
                    <a:pt x="970376" y="612598"/>
                    <a:pt x="951034" y="631940"/>
                  </a:cubicBezTo>
                  <a:cubicBezTo>
                    <a:pt x="931691" y="651283"/>
                    <a:pt x="905457" y="662150"/>
                    <a:pt x="878102" y="662150"/>
                  </a:cubicBezTo>
                  <a:lnTo>
                    <a:pt x="103141" y="662150"/>
                  </a:lnTo>
                  <a:cubicBezTo>
                    <a:pt x="46178" y="662150"/>
                    <a:pt x="0" y="615972"/>
                    <a:pt x="0" y="559009"/>
                  </a:cubicBezTo>
                  <a:lnTo>
                    <a:pt x="0" y="103141"/>
                  </a:lnTo>
                  <a:cubicBezTo>
                    <a:pt x="0" y="46178"/>
                    <a:pt x="46178" y="0"/>
                    <a:pt x="103141" y="0"/>
                  </a:cubicBezTo>
                  <a:close/>
                </a:path>
              </a:pathLst>
            </a:custGeom>
            <a:solidFill>
              <a:srgbClr val="EFBD27"/>
            </a:solidFill>
          </p:spPr>
        </p:sp>
        <p:sp>
          <p:nvSpPr>
            <p:cNvPr name="TextBox 24" id="24"/>
            <p:cNvSpPr txBox="true"/>
            <p:nvPr/>
          </p:nvSpPr>
          <p:spPr>
            <a:xfrm>
              <a:off x="0" y="-38100"/>
              <a:ext cx="981243" cy="70025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4714349" y="2346497"/>
            <a:ext cx="4227085" cy="1499503"/>
          </a:xfrm>
          <a:prstGeom prst="rect">
            <a:avLst/>
          </a:prstGeom>
        </p:spPr>
        <p:txBody>
          <a:bodyPr anchor="t" rtlCol="false" tIns="0" lIns="0" bIns="0" rIns="0">
            <a:spAutoFit/>
          </a:bodyPr>
          <a:lstStyle/>
          <a:p>
            <a:pPr algn="l">
              <a:lnSpc>
                <a:spcPts val="12237"/>
              </a:lnSpc>
            </a:pPr>
            <a:r>
              <a:rPr lang="en-US" sz="8740">
                <a:solidFill>
                  <a:srgbClr val="FFFFFF"/>
                </a:solidFill>
                <a:latin typeface="Anton"/>
                <a:ea typeface="Anton"/>
                <a:cs typeface="Anton"/>
                <a:sym typeface="Anton"/>
              </a:rPr>
              <a:t>M. SALAH</a:t>
            </a:r>
          </a:p>
        </p:txBody>
      </p:sp>
      <p:sp>
        <p:nvSpPr>
          <p:cNvPr name="TextBox 26" id="26"/>
          <p:cNvSpPr txBox="true"/>
          <p:nvPr/>
        </p:nvSpPr>
        <p:spPr>
          <a:xfrm rot="0">
            <a:off x="9639312" y="3099921"/>
            <a:ext cx="6999958" cy="1619250"/>
          </a:xfrm>
          <a:prstGeom prst="rect">
            <a:avLst/>
          </a:prstGeom>
        </p:spPr>
        <p:txBody>
          <a:bodyPr anchor="t" rtlCol="false" tIns="0" lIns="0" bIns="0" rIns="0">
            <a:spAutoFit/>
          </a:bodyPr>
          <a:lstStyle/>
          <a:p>
            <a:pPr algn="just">
              <a:lnSpc>
                <a:spcPts val="3224"/>
              </a:lnSpc>
            </a:pPr>
            <a:r>
              <a:rPr lang="en-US" sz="2499">
                <a:solidFill>
                  <a:srgbClr val="FFFFFF"/>
                </a:solidFill>
                <a:latin typeface="Poppins"/>
                <a:ea typeface="Poppins"/>
                <a:cs typeface="Poppins"/>
                <a:sym typeface="Poppins"/>
              </a:rPr>
              <a:t>Mohamed Salah mewakili puncak performa di Premier League 24/25. Sebagai benchmark tim elit, ia memenuhi target produktivitas ≥30 kontribusi gol per musim.</a:t>
            </a:r>
          </a:p>
        </p:txBody>
      </p:sp>
      <p:sp>
        <p:nvSpPr>
          <p:cNvPr name="TextBox 27" id="27"/>
          <p:cNvSpPr txBox="true"/>
          <p:nvPr/>
        </p:nvSpPr>
        <p:spPr>
          <a:xfrm rot="0">
            <a:off x="15030380" y="8931175"/>
            <a:ext cx="954991" cy="275147"/>
          </a:xfrm>
          <a:prstGeom prst="rect">
            <a:avLst/>
          </a:prstGeom>
        </p:spPr>
        <p:txBody>
          <a:bodyPr anchor="t" rtlCol="false" tIns="0" lIns="0" bIns="0" rIns="0">
            <a:spAutoFit/>
          </a:bodyPr>
          <a:lstStyle/>
          <a:p>
            <a:pPr algn="l">
              <a:lnSpc>
                <a:spcPts val="1874"/>
              </a:lnSpc>
            </a:pPr>
            <a:r>
              <a:rPr lang="en-US" sz="2082" b="true">
                <a:solidFill>
                  <a:srgbClr val="003A46"/>
                </a:solidFill>
                <a:latin typeface="Poppins Semi-Bold"/>
                <a:ea typeface="Poppins Semi-Bold"/>
                <a:cs typeface="Poppins Semi-Bold"/>
                <a:sym typeface="Poppins Semi-Bold"/>
              </a:rPr>
              <a:t>Lanjut</a:t>
            </a:r>
          </a:p>
        </p:txBody>
      </p:sp>
      <p:sp>
        <p:nvSpPr>
          <p:cNvPr name="TextBox 28" id="28"/>
          <p:cNvSpPr txBox="true"/>
          <p:nvPr/>
        </p:nvSpPr>
        <p:spPr>
          <a:xfrm rot="0">
            <a:off x="4714349" y="1129661"/>
            <a:ext cx="7731341" cy="1499503"/>
          </a:xfrm>
          <a:prstGeom prst="rect">
            <a:avLst/>
          </a:prstGeom>
        </p:spPr>
        <p:txBody>
          <a:bodyPr anchor="t" rtlCol="false" tIns="0" lIns="0" bIns="0" rIns="0">
            <a:spAutoFit/>
          </a:bodyPr>
          <a:lstStyle/>
          <a:p>
            <a:pPr algn="l">
              <a:lnSpc>
                <a:spcPts val="12237"/>
              </a:lnSpc>
            </a:pPr>
            <a:r>
              <a:rPr lang="en-US" sz="8740">
                <a:solidFill>
                  <a:srgbClr val="EFBD27"/>
                </a:solidFill>
                <a:latin typeface="Anton"/>
                <a:ea typeface="Anton"/>
                <a:cs typeface="Anton"/>
                <a:sym typeface="Anton"/>
              </a:rPr>
              <a:t>THE BENCHMARK:</a:t>
            </a:r>
          </a:p>
        </p:txBody>
      </p:sp>
      <p:sp>
        <p:nvSpPr>
          <p:cNvPr name="TextBox 29" id="29"/>
          <p:cNvSpPr txBox="true"/>
          <p:nvPr/>
        </p:nvSpPr>
        <p:spPr>
          <a:xfrm rot="0">
            <a:off x="9734895" y="6738347"/>
            <a:ext cx="2811306" cy="3737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GOALS + ASSISTS</a:t>
            </a:r>
          </a:p>
        </p:txBody>
      </p:sp>
      <p:sp>
        <p:nvSpPr>
          <p:cNvPr name="TextBox 30" id="30"/>
          <p:cNvSpPr txBox="true"/>
          <p:nvPr/>
        </p:nvSpPr>
        <p:spPr>
          <a:xfrm rot="0">
            <a:off x="13732381" y="6738347"/>
            <a:ext cx="2811306" cy="373761"/>
          </a:xfrm>
          <a:prstGeom prst="rect">
            <a:avLst/>
          </a:prstGeom>
        </p:spPr>
        <p:txBody>
          <a:bodyPr anchor="t" rtlCol="false" tIns="0" lIns="0" bIns="0" rIns="0">
            <a:spAutoFit/>
          </a:bodyPr>
          <a:lstStyle/>
          <a:p>
            <a:pPr algn="ctr">
              <a:lnSpc>
                <a:spcPts val="2967"/>
              </a:lnSpc>
            </a:pPr>
            <a:r>
              <a:rPr lang="en-US" b="true" sz="2300">
                <a:solidFill>
                  <a:srgbClr val="003A46"/>
                </a:solidFill>
                <a:latin typeface="Poppins Medium"/>
                <a:ea typeface="Poppins Medium"/>
                <a:cs typeface="Poppins Medium"/>
                <a:sym typeface="Poppins Medium"/>
              </a:rPr>
              <a:t>FOTMOB RATING</a:t>
            </a:r>
          </a:p>
        </p:txBody>
      </p:sp>
      <p:sp>
        <p:nvSpPr>
          <p:cNvPr name="TextBox 31" id="31"/>
          <p:cNvSpPr txBox="true"/>
          <p:nvPr/>
        </p:nvSpPr>
        <p:spPr>
          <a:xfrm rot="0">
            <a:off x="10455947" y="5764815"/>
            <a:ext cx="1369204" cy="767715"/>
          </a:xfrm>
          <a:prstGeom prst="rect">
            <a:avLst/>
          </a:prstGeom>
        </p:spPr>
        <p:txBody>
          <a:bodyPr anchor="t" rtlCol="false" tIns="0" lIns="0" bIns="0" rIns="0">
            <a:spAutoFit/>
          </a:bodyPr>
          <a:lstStyle/>
          <a:p>
            <a:pPr algn="ctr">
              <a:lnSpc>
                <a:spcPts val="5805"/>
              </a:lnSpc>
            </a:pPr>
            <a:r>
              <a:rPr lang="en-US" b="true" sz="4500">
                <a:solidFill>
                  <a:srgbClr val="003A46"/>
                </a:solidFill>
                <a:latin typeface="Poppins Bold"/>
                <a:ea typeface="Poppins Bold"/>
                <a:cs typeface="Poppins Bold"/>
                <a:sym typeface="Poppins Bold"/>
              </a:rPr>
              <a:t>47</a:t>
            </a:r>
          </a:p>
        </p:txBody>
      </p:sp>
      <p:sp>
        <p:nvSpPr>
          <p:cNvPr name="TextBox 32" id="32"/>
          <p:cNvSpPr txBox="true"/>
          <p:nvPr/>
        </p:nvSpPr>
        <p:spPr>
          <a:xfrm rot="0">
            <a:off x="14453433" y="5764815"/>
            <a:ext cx="1369204" cy="767715"/>
          </a:xfrm>
          <a:prstGeom prst="rect">
            <a:avLst/>
          </a:prstGeom>
        </p:spPr>
        <p:txBody>
          <a:bodyPr anchor="t" rtlCol="false" tIns="0" lIns="0" bIns="0" rIns="0">
            <a:spAutoFit/>
          </a:bodyPr>
          <a:lstStyle/>
          <a:p>
            <a:pPr algn="ctr">
              <a:lnSpc>
                <a:spcPts val="5805"/>
              </a:lnSpc>
            </a:pPr>
            <a:r>
              <a:rPr lang="en-US" b="true" sz="4500">
                <a:solidFill>
                  <a:srgbClr val="003A46"/>
                </a:solidFill>
                <a:latin typeface="Poppins Bold"/>
                <a:ea typeface="Poppins Bold"/>
                <a:cs typeface="Poppins Bold"/>
                <a:sym typeface="Poppins Bold"/>
              </a:rPr>
              <a:t>8.00</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3A46">
                <a:alpha val="100000"/>
              </a:srgbClr>
            </a:gs>
            <a:gs pos="100000">
              <a:srgbClr val="006A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true" flipV="false" rot="-1394041">
            <a:off x="-1870165" y="167117"/>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62203" y="0"/>
            <a:ext cx="12954176" cy="7866718"/>
          </a:xfrm>
          <a:custGeom>
            <a:avLst/>
            <a:gdLst/>
            <a:ahLst/>
            <a:cxnLst/>
            <a:rect r="r" b="b" t="t" l="l"/>
            <a:pathLst>
              <a:path h="7866718" w="12954176">
                <a:moveTo>
                  <a:pt x="0" y="0"/>
                </a:moveTo>
                <a:lnTo>
                  <a:pt x="12954176" y="0"/>
                </a:lnTo>
                <a:lnTo>
                  <a:pt x="12954176" y="7866718"/>
                </a:lnTo>
                <a:lnTo>
                  <a:pt x="0" y="7866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206743" y="2426233"/>
            <a:ext cx="20161192" cy="5434533"/>
            <a:chOff x="0" y="0"/>
            <a:chExt cx="4607354" cy="1241931"/>
          </a:xfrm>
        </p:grpSpPr>
        <p:sp>
          <p:nvSpPr>
            <p:cNvPr name="Freeform 5" id="5"/>
            <p:cNvSpPr/>
            <p:nvPr/>
          </p:nvSpPr>
          <p:spPr>
            <a:xfrm flipH="false" flipV="false" rot="0">
              <a:off x="0" y="0"/>
              <a:ext cx="4607354" cy="1241931"/>
            </a:xfrm>
            <a:custGeom>
              <a:avLst/>
              <a:gdLst/>
              <a:ahLst/>
              <a:cxnLst/>
              <a:rect r="r" b="b" t="t" l="l"/>
              <a:pathLst>
                <a:path h="1241931" w="4607354">
                  <a:moveTo>
                    <a:pt x="203200" y="0"/>
                  </a:moveTo>
                  <a:lnTo>
                    <a:pt x="4404154" y="0"/>
                  </a:lnTo>
                  <a:lnTo>
                    <a:pt x="4607354" y="1241931"/>
                  </a:lnTo>
                  <a:lnTo>
                    <a:pt x="0" y="1241931"/>
                  </a:lnTo>
                  <a:lnTo>
                    <a:pt x="203200" y="0"/>
                  </a:lnTo>
                  <a:close/>
                </a:path>
              </a:pathLst>
            </a:custGeom>
            <a:solidFill>
              <a:srgbClr val="EFBD27"/>
            </a:solidFill>
          </p:spPr>
        </p:sp>
        <p:sp>
          <p:nvSpPr>
            <p:cNvPr name="TextBox 6" id="6"/>
            <p:cNvSpPr txBox="true"/>
            <p:nvPr/>
          </p:nvSpPr>
          <p:spPr>
            <a:xfrm>
              <a:off x="127000" y="-38100"/>
              <a:ext cx="4353354" cy="1280031"/>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1488627" y="3627302"/>
            <a:ext cx="12067387" cy="2727597"/>
          </a:xfrm>
          <a:prstGeom prst="rect">
            <a:avLst/>
          </a:prstGeom>
        </p:spPr>
        <p:txBody>
          <a:bodyPr anchor="t" rtlCol="false" tIns="0" lIns="0" bIns="0" rIns="0">
            <a:spAutoFit/>
          </a:bodyPr>
          <a:lstStyle/>
          <a:p>
            <a:pPr algn="l">
              <a:lnSpc>
                <a:spcPts val="22309"/>
              </a:lnSpc>
            </a:pPr>
            <a:r>
              <a:rPr lang="en-US" sz="15935">
                <a:solidFill>
                  <a:srgbClr val="003A46"/>
                </a:solidFill>
                <a:latin typeface="Anton"/>
                <a:ea typeface="Anton"/>
                <a:cs typeface="Anton"/>
                <a:sym typeface="Anton"/>
              </a:rPr>
              <a:t>TERIMA KASIH</a:t>
            </a:r>
          </a:p>
        </p:txBody>
      </p:sp>
      <p:sp>
        <p:nvSpPr>
          <p:cNvPr name="Freeform 8" id="8"/>
          <p:cNvSpPr/>
          <p:nvPr/>
        </p:nvSpPr>
        <p:spPr>
          <a:xfrm flipH="false" flipV="false" rot="0">
            <a:off x="14954450" y="1207560"/>
            <a:ext cx="1792303" cy="320374"/>
          </a:xfrm>
          <a:custGeom>
            <a:avLst/>
            <a:gdLst/>
            <a:ahLst/>
            <a:cxnLst/>
            <a:rect r="r" b="b" t="t" l="l"/>
            <a:pathLst>
              <a:path h="320374" w="1792303">
                <a:moveTo>
                  <a:pt x="0" y="0"/>
                </a:moveTo>
                <a:lnTo>
                  <a:pt x="1792303" y="0"/>
                </a:lnTo>
                <a:lnTo>
                  <a:pt x="1792303" y="320374"/>
                </a:lnTo>
                <a:lnTo>
                  <a:pt x="0" y="3203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1394041">
            <a:off x="8056642" y="6815804"/>
            <a:ext cx="9433976" cy="4648377"/>
          </a:xfrm>
          <a:custGeom>
            <a:avLst/>
            <a:gdLst/>
            <a:ahLst/>
            <a:cxnLst/>
            <a:rect r="r" b="b" t="t" l="l"/>
            <a:pathLst>
              <a:path h="4648377" w="9433976">
                <a:moveTo>
                  <a:pt x="9433976" y="0"/>
                </a:moveTo>
                <a:lnTo>
                  <a:pt x="0" y="0"/>
                </a:lnTo>
                <a:lnTo>
                  <a:pt x="0" y="4648377"/>
                </a:lnTo>
                <a:lnTo>
                  <a:pt x="9433976" y="4648377"/>
                </a:lnTo>
                <a:lnTo>
                  <a:pt x="9433976"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4593286" y="8558000"/>
            <a:ext cx="2153466" cy="581993"/>
            <a:chOff x="0" y="0"/>
            <a:chExt cx="669810" cy="181022"/>
          </a:xfrm>
        </p:grpSpPr>
        <p:sp>
          <p:nvSpPr>
            <p:cNvPr name="Freeform 11" id="11"/>
            <p:cNvSpPr/>
            <p:nvPr/>
          </p:nvSpPr>
          <p:spPr>
            <a:xfrm flipH="false" flipV="false" rot="0">
              <a:off x="0" y="0"/>
              <a:ext cx="669810" cy="181022"/>
            </a:xfrm>
            <a:custGeom>
              <a:avLst/>
              <a:gdLst/>
              <a:ahLst/>
              <a:cxnLst/>
              <a:rect r="r" b="b" t="t" l="l"/>
              <a:pathLst>
                <a:path h="181022" w="669810">
                  <a:moveTo>
                    <a:pt x="90511" y="0"/>
                  </a:moveTo>
                  <a:lnTo>
                    <a:pt x="579299" y="0"/>
                  </a:lnTo>
                  <a:cubicBezTo>
                    <a:pt x="603304" y="0"/>
                    <a:pt x="626326" y="9536"/>
                    <a:pt x="643300" y="26510"/>
                  </a:cubicBezTo>
                  <a:cubicBezTo>
                    <a:pt x="660274" y="43484"/>
                    <a:pt x="669810" y="66506"/>
                    <a:pt x="669810" y="90511"/>
                  </a:cubicBezTo>
                  <a:lnTo>
                    <a:pt x="669810" y="90511"/>
                  </a:lnTo>
                  <a:cubicBezTo>
                    <a:pt x="669810" y="140499"/>
                    <a:pt x="629287" y="181022"/>
                    <a:pt x="579299" y="181022"/>
                  </a:cubicBezTo>
                  <a:lnTo>
                    <a:pt x="90511" y="181022"/>
                  </a:lnTo>
                  <a:cubicBezTo>
                    <a:pt x="66506" y="181022"/>
                    <a:pt x="43484" y="171486"/>
                    <a:pt x="26510" y="154512"/>
                  </a:cubicBezTo>
                  <a:cubicBezTo>
                    <a:pt x="9536" y="137538"/>
                    <a:pt x="0" y="114516"/>
                    <a:pt x="0" y="90511"/>
                  </a:cubicBezTo>
                  <a:lnTo>
                    <a:pt x="0" y="90511"/>
                  </a:lnTo>
                  <a:cubicBezTo>
                    <a:pt x="0" y="66506"/>
                    <a:pt x="9536" y="43484"/>
                    <a:pt x="26510" y="26510"/>
                  </a:cubicBezTo>
                  <a:cubicBezTo>
                    <a:pt x="43484" y="9536"/>
                    <a:pt x="66506" y="0"/>
                    <a:pt x="90511" y="0"/>
                  </a:cubicBezTo>
                  <a:close/>
                </a:path>
              </a:pathLst>
            </a:custGeom>
            <a:solidFill>
              <a:srgbClr val="FFFFFF"/>
            </a:solidFill>
          </p:spPr>
        </p:sp>
        <p:sp>
          <p:nvSpPr>
            <p:cNvPr name="TextBox 12" id="12"/>
            <p:cNvSpPr txBox="true"/>
            <p:nvPr/>
          </p:nvSpPr>
          <p:spPr>
            <a:xfrm>
              <a:off x="0" y="-38100"/>
              <a:ext cx="669810" cy="219122"/>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4954450" y="8733121"/>
            <a:ext cx="1418523" cy="269851"/>
          </a:xfrm>
          <a:prstGeom prst="rect">
            <a:avLst/>
          </a:prstGeom>
        </p:spPr>
        <p:txBody>
          <a:bodyPr anchor="t" rtlCol="false" tIns="0" lIns="0" bIns="0" rIns="0">
            <a:spAutoFit/>
          </a:bodyPr>
          <a:lstStyle/>
          <a:p>
            <a:pPr algn="ctr">
              <a:lnSpc>
                <a:spcPts val="1874"/>
              </a:lnSpc>
            </a:pPr>
            <a:r>
              <a:rPr lang="en-US" b="true" sz="2082">
                <a:solidFill>
                  <a:srgbClr val="003A46"/>
                </a:solidFill>
                <a:latin typeface="Poppins Semi-Bold"/>
                <a:ea typeface="Poppins Semi-Bold"/>
                <a:cs typeface="Poppins Semi-Bold"/>
                <a:sym typeface="Poppins Semi-Bold"/>
              </a:rPr>
              <a:t>Selesai</a:t>
            </a:r>
          </a:p>
        </p:txBody>
      </p:sp>
      <p:sp>
        <p:nvSpPr>
          <p:cNvPr name="Freeform 14" id="14"/>
          <p:cNvSpPr/>
          <p:nvPr/>
        </p:nvSpPr>
        <p:spPr>
          <a:xfrm flipH="false" flipV="false" rot="0">
            <a:off x="1488627" y="8848996"/>
            <a:ext cx="1792303" cy="320374"/>
          </a:xfrm>
          <a:custGeom>
            <a:avLst/>
            <a:gdLst/>
            <a:ahLst/>
            <a:cxnLst/>
            <a:rect r="r" b="b" t="t" l="l"/>
            <a:pathLst>
              <a:path h="320374" w="1792303">
                <a:moveTo>
                  <a:pt x="0" y="0"/>
                </a:moveTo>
                <a:lnTo>
                  <a:pt x="1792303" y="0"/>
                </a:lnTo>
                <a:lnTo>
                  <a:pt x="1792303" y="320375"/>
                </a:lnTo>
                <a:lnTo>
                  <a:pt x="0" y="3203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DAHLzqXuzZ4</dc:identifier>
  <dcterms:modified xsi:type="dcterms:W3CDTF">2011-08-01T06:04:30Z</dcterms:modified>
  <cp:revision>1</cp:revision>
  <dc:title>Kuning Putih Modern Seminar Proposal Presentasi</dc:title>
</cp:coreProperties>
</file>